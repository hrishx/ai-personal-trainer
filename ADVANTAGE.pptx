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Times New Roman Bold" charset="1" panose="02020803070505020304"/>
      <p:regular r:id="rId29"/>
    </p:embeddedFont>
    <p:embeddedFont>
      <p:font typeface="Times New Roman" charset="1" panose="02020603050405020304"/>
      <p:regular r:id="rId30"/>
    </p:embeddedFont>
    <p:embeddedFont>
      <p:font typeface="Times New Roman Bold Italics" charset="1" panose="02020703060505090304"/>
      <p:regular r:id="rId31"/>
    </p:embeddedFont>
    <p:embeddedFont>
      <p:font typeface="Calibri (MS)" charset="1" panose="020F0502020204030204"/>
      <p:regular r:id="rId32"/>
    </p:embeddedFont>
    <p:embeddedFont>
      <p:font typeface="Arimo" charset="1" panose="020B0604020202020204"/>
      <p:regular r:id="rId33"/>
    </p:embeddedFont>
    <p:embeddedFont>
      <p:font typeface="Arial" charset="1" panose="020B0604020202020204"/>
      <p:regular r:id="rId34"/>
    </p:embeddedFont>
    <p:embeddedFont>
      <p:font typeface="Times New Roman Italics" charset="1" panose="020205030504050903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 Id="rId9" Target="../media/image8.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jpeg" Type="http://schemas.openxmlformats.org/officeDocument/2006/relationships/image"/><Relationship Id="rId4" Target="../media/image2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6350" y="6189345"/>
            <a:ext cx="1028700" cy="14288"/>
          </a:xfrm>
          <a:custGeom>
            <a:avLst/>
            <a:gdLst/>
            <a:ahLst/>
            <a:cxnLst/>
            <a:rect r="r" b="b" t="t" l="l"/>
            <a:pathLst>
              <a:path h="14288" w="1028700">
                <a:moveTo>
                  <a:pt x="0" y="0"/>
                </a:moveTo>
                <a:lnTo>
                  <a:pt x="1028700" y="0"/>
                </a:lnTo>
                <a:lnTo>
                  <a:pt x="1028700" y="14287"/>
                </a:lnTo>
                <a:lnTo>
                  <a:pt x="0" y="14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258675" y="7471791"/>
            <a:ext cx="2507742" cy="14288"/>
          </a:xfrm>
          <a:custGeom>
            <a:avLst/>
            <a:gdLst/>
            <a:ahLst/>
            <a:cxnLst/>
            <a:rect r="r" b="b" t="t" l="l"/>
            <a:pathLst>
              <a:path h="14288" w="2507742">
                <a:moveTo>
                  <a:pt x="0" y="0"/>
                </a:moveTo>
                <a:lnTo>
                  <a:pt x="2507742" y="0"/>
                </a:lnTo>
                <a:lnTo>
                  <a:pt x="2507742" y="14288"/>
                </a:lnTo>
                <a:lnTo>
                  <a:pt x="0" y="14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258675" y="6287457"/>
            <a:ext cx="2304288" cy="14288"/>
          </a:xfrm>
          <a:custGeom>
            <a:avLst/>
            <a:gdLst/>
            <a:ahLst/>
            <a:cxnLst/>
            <a:rect r="r" b="b" t="t" l="l"/>
            <a:pathLst>
              <a:path h="14288" w="2304288">
                <a:moveTo>
                  <a:pt x="0" y="0"/>
                </a:moveTo>
                <a:lnTo>
                  <a:pt x="2304288" y="0"/>
                </a:lnTo>
                <a:lnTo>
                  <a:pt x="2304288" y="14288"/>
                </a:lnTo>
                <a:lnTo>
                  <a:pt x="0" y="14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8980" y="714946"/>
            <a:ext cx="2348679" cy="2114164"/>
            <a:chOff x="0" y="0"/>
            <a:chExt cx="2087715" cy="1879257"/>
          </a:xfrm>
        </p:grpSpPr>
        <p:sp>
          <p:nvSpPr>
            <p:cNvPr name="Freeform 6" id="6"/>
            <p:cNvSpPr/>
            <p:nvPr/>
          </p:nvSpPr>
          <p:spPr>
            <a:xfrm flipH="false" flipV="false" rot="0">
              <a:off x="0" y="0"/>
              <a:ext cx="2087753" cy="1879219"/>
            </a:xfrm>
            <a:custGeom>
              <a:avLst/>
              <a:gdLst/>
              <a:ahLst/>
              <a:cxnLst/>
              <a:rect r="r" b="b" t="t" l="l"/>
              <a:pathLst>
                <a:path h="1879219" w="2087753">
                  <a:moveTo>
                    <a:pt x="0" y="0"/>
                  </a:moveTo>
                  <a:lnTo>
                    <a:pt x="2087753" y="0"/>
                  </a:lnTo>
                  <a:lnTo>
                    <a:pt x="2087753" y="1879219"/>
                  </a:lnTo>
                  <a:lnTo>
                    <a:pt x="0" y="1879219"/>
                  </a:lnTo>
                  <a:lnTo>
                    <a:pt x="0" y="0"/>
                  </a:lnTo>
                  <a:close/>
                </a:path>
              </a:pathLst>
            </a:custGeom>
            <a:blipFill>
              <a:blip r:embed="rId8"/>
              <a:stretch>
                <a:fillRect l="0" t="0" r="1" b="-2"/>
              </a:stretch>
            </a:blipFill>
          </p:spPr>
        </p:sp>
      </p:grpSp>
      <p:grpSp>
        <p:nvGrpSpPr>
          <p:cNvPr name="Group 7" id="7"/>
          <p:cNvGrpSpPr/>
          <p:nvPr/>
        </p:nvGrpSpPr>
        <p:grpSpPr>
          <a:xfrm rot="0">
            <a:off x="16015530" y="714946"/>
            <a:ext cx="2185416" cy="2114164"/>
            <a:chOff x="0" y="0"/>
            <a:chExt cx="1942592" cy="1879257"/>
          </a:xfrm>
        </p:grpSpPr>
        <p:sp>
          <p:nvSpPr>
            <p:cNvPr name="Freeform 8" id="8"/>
            <p:cNvSpPr/>
            <p:nvPr/>
          </p:nvSpPr>
          <p:spPr>
            <a:xfrm flipH="false" flipV="false" rot="0">
              <a:off x="0" y="0"/>
              <a:ext cx="1942592" cy="1879219"/>
            </a:xfrm>
            <a:custGeom>
              <a:avLst/>
              <a:gdLst/>
              <a:ahLst/>
              <a:cxnLst/>
              <a:rect r="r" b="b" t="t" l="l"/>
              <a:pathLst>
                <a:path h="1879219" w="1942592">
                  <a:moveTo>
                    <a:pt x="0" y="0"/>
                  </a:moveTo>
                  <a:lnTo>
                    <a:pt x="1942592" y="0"/>
                  </a:lnTo>
                  <a:lnTo>
                    <a:pt x="1942592" y="1879219"/>
                  </a:lnTo>
                  <a:lnTo>
                    <a:pt x="0" y="1879219"/>
                  </a:lnTo>
                  <a:lnTo>
                    <a:pt x="0" y="0"/>
                  </a:lnTo>
                  <a:close/>
                </a:path>
              </a:pathLst>
            </a:custGeom>
            <a:blipFill>
              <a:blip r:embed="rId9"/>
              <a:stretch>
                <a:fillRect l="0" t="0" r="0" b="-2"/>
              </a:stretch>
            </a:blipFill>
          </p:spPr>
        </p:sp>
      </p:grpSp>
      <p:sp>
        <p:nvSpPr>
          <p:cNvPr name="TextBox 9" id="9"/>
          <p:cNvSpPr txBox="true"/>
          <p:nvPr/>
        </p:nvSpPr>
        <p:spPr>
          <a:xfrm rot="0">
            <a:off x="2787591" y="537624"/>
            <a:ext cx="12967349" cy="2322576"/>
          </a:xfrm>
          <a:prstGeom prst="rect">
            <a:avLst/>
          </a:prstGeom>
        </p:spPr>
        <p:txBody>
          <a:bodyPr anchor="t" rtlCol="false" tIns="0" lIns="0" bIns="0" rIns="0">
            <a:spAutoFit/>
          </a:bodyPr>
          <a:lstStyle/>
          <a:p>
            <a:pPr algn="ctr">
              <a:lnSpc>
                <a:spcPts val="6210"/>
              </a:lnSpc>
            </a:pPr>
            <a:r>
              <a:rPr lang="en-US" b="true" sz="3456">
                <a:solidFill>
                  <a:srgbClr val="000000"/>
                </a:solidFill>
                <a:latin typeface="Times New Roman Bold"/>
                <a:ea typeface="Times New Roman Bold"/>
                <a:cs typeface="Times New Roman Bold"/>
                <a:sym typeface="Times New Roman Bold"/>
              </a:rPr>
              <a:t>NEHRU INSTITUTE OF ENGINEERING AND TECHNOLOGY (An Autonomous Institution, Affiliated to Anna university, Chennai)</a:t>
            </a:r>
          </a:p>
          <a:p>
            <a:pPr algn="ctr">
              <a:lnSpc>
                <a:spcPts val="4843"/>
              </a:lnSpc>
            </a:pPr>
            <a:r>
              <a:rPr lang="en-US" b="true" sz="3459">
                <a:solidFill>
                  <a:srgbClr val="000000"/>
                </a:solidFill>
                <a:latin typeface="Times New Roman Bold"/>
                <a:ea typeface="Times New Roman Bold"/>
                <a:cs typeface="Times New Roman Bold"/>
                <a:sym typeface="Times New Roman Bold"/>
              </a:rPr>
              <a:t>DEPARTMENT OF INFORMATION TECHNOLOGY</a:t>
            </a:r>
          </a:p>
        </p:txBody>
      </p:sp>
      <p:sp>
        <p:nvSpPr>
          <p:cNvPr name="TextBox 10" id="10"/>
          <p:cNvSpPr txBox="true"/>
          <p:nvPr/>
        </p:nvSpPr>
        <p:spPr>
          <a:xfrm rot="0">
            <a:off x="4335585" y="2945897"/>
            <a:ext cx="9725801" cy="833733"/>
          </a:xfrm>
          <a:prstGeom prst="rect">
            <a:avLst/>
          </a:prstGeom>
        </p:spPr>
        <p:txBody>
          <a:bodyPr anchor="t" rtlCol="false" tIns="0" lIns="0" bIns="0" rIns="0">
            <a:spAutoFit/>
          </a:bodyPr>
          <a:lstStyle/>
          <a:p>
            <a:pPr algn="l">
              <a:lnSpc>
                <a:spcPts val="7274"/>
              </a:lnSpc>
            </a:pPr>
            <a:r>
              <a:rPr lang="en-US" sz="3006">
                <a:solidFill>
                  <a:srgbClr val="000000"/>
                </a:solidFill>
                <a:latin typeface="Times New Roman"/>
                <a:ea typeface="Times New Roman"/>
                <a:cs typeface="Times New Roman"/>
                <a:sym typeface="Times New Roman"/>
              </a:rPr>
              <a:t> </a:t>
            </a:r>
            <a:r>
              <a:rPr lang="en-US" b="true" sz="3006" i="true">
                <a:solidFill>
                  <a:srgbClr val="000000"/>
                </a:solidFill>
                <a:latin typeface="Times New Roman Bold Italics"/>
                <a:ea typeface="Times New Roman Bold Italics"/>
                <a:cs typeface="Times New Roman Bold Italics"/>
                <a:sym typeface="Times New Roman Bold Italics"/>
              </a:rPr>
              <a:t>A SMART AGRICULTURE FRAMEWORK FOR LEAF </a:t>
            </a:r>
          </a:p>
        </p:txBody>
      </p:sp>
      <p:sp>
        <p:nvSpPr>
          <p:cNvPr name="TextBox 11" id="11"/>
          <p:cNvSpPr txBox="true"/>
          <p:nvPr/>
        </p:nvSpPr>
        <p:spPr>
          <a:xfrm rot="0">
            <a:off x="4404165" y="3869827"/>
            <a:ext cx="9583069" cy="820760"/>
          </a:xfrm>
          <a:prstGeom prst="rect">
            <a:avLst/>
          </a:prstGeom>
        </p:spPr>
        <p:txBody>
          <a:bodyPr anchor="t" rtlCol="false" tIns="0" lIns="0" bIns="0" rIns="0">
            <a:spAutoFit/>
          </a:bodyPr>
          <a:lstStyle/>
          <a:p>
            <a:pPr algn="l">
              <a:lnSpc>
                <a:spcPts val="7274"/>
              </a:lnSpc>
            </a:pPr>
            <a:r>
              <a:rPr lang="en-US" b="true" sz="3006" i="true">
                <a:solidFill>
                  <a:srgbClr val="000000"/>
                </a:solidFill>
                <a:latin typeface="Times New Roman Bold Italics"/>
                <a:ea typeface="Times New Roman Bold Italics"/>
                <a:cs typeface="Times New Roman Bold Italics"/>
                <a:sym typeface="Times New Roman Bold Italics"/>
              </a:rPr>
              <a:t>RECOMMENDATION USING DEEP LEARNING AND </a:t>
            </a:r>
          </a:p>
        </p:txBody>
      </p:sp>
      <p:sp>
        <p:nvSpPr>
          <p:cNvPr name="TextBox 12" id="12"/>
          <p:cNvSpPr txBox="true"/>
          <p:nvPr/>
        </p:nvSpPr>
        <p:spPr>
          <a:xfrm rot="0">
            <a:off x="7257093" y="4869952"/>
            <a:ext cx="3673573" cy="277835"/>
          </a:xfrm>
          <a:prstGeom prst="rect">
            <a:avLst/>
          </a:prstGeom>
        </p:spPr>
        <p:txBody>
          <a:bodyPr anchor="t" rtlCol="false" tIns="0" lIns="0" bIns="0" rIns="0">
            <a:spAutoFit/>
          </a:bodyPr>
          <a:lstStyle/>
          <a:p>
            <a:pPr algn="l">
              <a:lnSpc>
                <a:spcPts val="1503"/>
              </a:lnSpc>
            </a:pPr>
            <a:r>
              <a:rPr lang="en-US" b="true" sz="3006" i="true" spc="3">
                <a:solidFill>
                  <a:srgbClr val="000000"/>
                </a:solidFill>
                <a:latin typeface="Times New Roman Bold Italics"/>
                <a:ea typeface="Times New Roman Bold Italics"/>
                <a:cs typeface="Times New Roman Bold Italics"/>
                <a:sym typeface="Times New Roman Bold Italics"/>
              </a:rPr>
              <a:t>EDGE COMPUTING</a:t>
            </a:r>
          </a:p>
        </p:txBody>
      </p:sp>
      <p:sp>
        <p:nvSpPr>
          <p:cNvPr name="TextBox 13" id="13"/>
          <p:cNvSpPr txBox="true"/>
          <p:nvPr/>
        </p:nvSpPr>
        <p:spPr>
          <a:xfrm rot="0">
            <a:off x="4097841" y="3697562"/>
            <a:ext cx="10113836" cy="535538"/>
          </a:xfrm>
          <a:prstGeom prst="rect">
            <a:avLst/>
          </a:prstGeom>
        </p:spPr>
        <p:txBody>
          <a:bodyPr anchor="t" rtlCol="false" tIns="0" lIns="0" bIns="0" rIns="0">
            <a:spAutoFit/>
          </a:bodyPr>
          <a:lstStyle/>
          <a:p>
            <a:pPr algn="l">
              <a:lnSpc>
                <a:spcPts val="4213"/>
              </a:lnSpc>
            </a:pPr>
            <a:r>
              <a:rPr lang="en-US" b="true" sz="3009" i="true">
                <a:solidFill>
                  <a:srgbClr val="000000"/>
                </a:solidFill>
                <a:latin typeface="Times New Roman Bold Italics"/>
                <a:ea typeface="Times New Roman Bold Italics"/>
                <a:cs typeface="Times New Roman Bold Italics"/>
                <a:sym typeface="Times New Roman Bold Italics"/>
              </a:rPr>
              <a:t>DISEASE</a:t>
            </a:r>
            <a:r>
              <a:rPr lang="en-US" b="true" sz="3009" i="true">
                <a:solidFill>
                  <a:srgbClr val="FFFFFF"/>
                </a:solidFill>
                <a:latin typeface="Times New Roman Bold Italics"/>
                <a:ea typeface="Times New Roman Bold Italics"/>
                <a:cs typeface="Times New Roman Bold Italics"/>
                <a:sym typeface="Times New Roman Bold Italics"/>
              </a:rPr>
              <a:t> </a:t>
            </a:r>
            <a:r>
              <a:rPr lang="en-US" b="true" sz="3009" i="true">
                <a:solidFill>
                  <a:srgbClr val="000000"/>
                </a:solidFill>
                <a:latin typeface="Times New Roman Bold Italics"/>
                <a:ea typeface="Times New Roman Bold Italics"/>
                <a:cs typeface="Times New Roman Bold Italics"/>
                <a:sym typeface="Times New Roman Bold Italics"/>
              </a:rPr>
              <a:t>DETECTION</a:t>
            </a:r>
            <a:r>
              <a:rPr lang="en-US" b="true" sz="3009" i="true">
                <a:solidFill>
                  <a:srgbClr val="FFFFFF"/>
                </a:solidFill>
                <a:latin typeface="Times New Roman Bold Italics"/>
                <a:ea typeface="Times New Roman Bold Italics"/>
                <a:cs typeface="Times New Roman Bold Italics"/>
                <a:sym typeface="Times New Roman Bold Italics"/>
              </a:rPr>
              <a:t> </a:t>
            </a:r>
            <a:r>
              <a:rPr lang="en-US" b="true" sz="3009" i="true">
                <a:solidFill>
                  <a:srgbClr val="000000"/>
                </a:solidFill>
                <a:latin typeface="Times New Roman Bold Italics"/>
                <a:ea typeface="Times New Roman Bold Italics"/>
                <a:cs typeface="Times New Roman Bold Italics"/>
                <a:sym typeface="Times New Roman Bold Italics"/>
              </a:rPr>
              <a:t>AND</a:t>
            </a:r>
            <a:r>
              <a:rPr lang="en-US" b="true" sz="3009" i="true">
                <a:solidFill>
                  <a:srgbClr val="FFFFFF"/>
                </a:solidFill>
                <a:latin typeface="Times New Roman Bold Italics"/>
                <a:ea typeface="Times New Roman Bold Italics"/>
                <a:cs typeface="Times New Roman Bold Italics"/>
                <a:sym typeface="Times New Roman Bold Italics"/>
              </a:rPr>
              <a:t> </a:t>
            </a:r>
            <a:r>
              <a:rPr lang="en-US" b="true" sz="3009" i="true">
                <a:solidFill>
                  <a:srgbClr val="000000"/>
                </a:solidFill>
                <a:latin typeface="Times New Roman Bold Italics"/>
                <a:ea typeface="Times New Roman Bold Italics"/>
                <a:cs typeface="Times New Roman Bold Italics"/>
                <a:sym typeface="Times New Roman Bold Italics"/>
              </a:rPr>
              <a:t>AUTOMATED</a:t>
            </a:r>
            <a:r>
              <a:rPr lang="en-US" b="true" sz="3009" i="true">
                <a:solidFill>
                  <a:srgbClr val="FFFFFF"/>
                </a:solidFill>
                <a:latin typeface="Times New Roman Bold Italics"/>
                <a:ea typeface="Times New Roman Bold Italics"/>
                <a:cs typeface="Times New Roman Bold Italics"/>
                <a:sym typeface="Times New Roman Bold Italics"/>
              </a:rPr>
              <a:t> </a:t>
            </a:r>
            <a:r>
              <a:rPr lang="en-US" b="true" sz="3009" i="true">
                <a:solidFill>
                  <a:srgbClr val="000000"/>
                </a:solidFill>
                <a:latin typeface="Times New Roman Bold Italics"/>
                <a:ea typeface="Times New Roman Bold Italics"/>
                <a:cs typeface="Times New Roman Bold Italics"/>
                <a:sym typeface="Times New Roman Bold Italics"/>
              </a:rPr>
              <a:t>FERTILIZER</a:t>
            </a:r>
          </a:p>
        </p:txBody>
      </p:sp>
      <p:sp>
        <p:nvSpPr>
          <p:cNvPr name="TextBox 14" id="14"/>
          <p:cNvSpPr txBox="true"/>
          <p:nvPr/>
        </p:nvSpPr>
        <p:spPr>
          <a:xfrm rot="0">
            <a:off x="17556866" y="9585293"/>
            <a:ext cx="157234" cy="454419"/>
          </a:xfrm>
          <a:prstGeom prst="rect">
            <a:avLst/>
          </a:prstGeom>
        </p:spPr>
        <p:txBody>
          <a:bodyPr anchor="t" rtlCol="false" tIns="0" lIns="0" bIns="0" rIns="0">
            <a:spAutoFit/>
          </a:bodyPr>
          <a:lstStyle/>
          <a:p>
            <a:pPr algn="l">
              <a:lnSpc>
                <a:spcPts val="3351"/>
              </a:lnSpc>
            </a:pPr>
            <a:r>
              <a:rPr lang="en-US" sz="2394">
                <a:solidFill>
                  <a:srgbClr val="FFFFFF"/>
                </a:solidFill>
                <a:latin typeface="Calibri (MS)"/>
                <a:ea typeface="Calibri (MS)"/>
                <a:cs typeface="Calibri (MS)"/>
                <a:sym typeface="Calibri (MS)"/>
              </a:rPr>
              <a:t>1</a:t>
            </a:r>
          </a:p>
        </p:txBody>
      </p:sp>
      <p:sp>
        <p:nvSpPr>
          <p:cNvPr name="TextBox 15" id="15"/>
          <p:cNvSpPr txBox="true"/>
          <p:nvPr/>
        </p:nvSpPr>
        <p:spPr>
          <a:xfrm rot="0">
            <a:off x="1316736" y="6273517"/>
            <a:ext cx="4911657" cy="2156122"/>
          </a:xfrm>
          <a:prstGeom prst="rect">
            <a:avLst/>
          </a:prstGeom>
        </p:spPr>
        <p:txBody>
          <a:bodyPr anchor="t" rtlCol="false" tIns="0" lIns="0" bIns="0" rIns="0">
            <a:spAutoFit/>
          </a:bodyPr>
          <a:lstStyle/>
          <a:p>
            <a:pPr algn="l">
              <a:lnSpc>
                <a:spcPts val="4321"/>
              </a:lnSpc>
            </a:pPr>
            <a:r>
              <a:rPr lang="en-US" sz="2394">
                <a:solidFill>
                  <a:srgbClr val="000000"/>
                </a:solidFill>
                <a:latin typeface="Times New Roman"/>
                <a:ea typeface="Times New Roman"/>
                <a:cs typeface="Times New Roman"/>
                <a:sym typeface="Times New Roman"/>
              </a:rPr>
              <a:t>Mrs. T COWSALYA Assistant Professor Department of Information Technology NIET</a:t>
            </a:r>
          </a:p>
        </p:txBody>
      </p:sp>
      <p:sp>
        <p:nvSpPr>
          <p:cNvPr name="TextBox 16" id="16"/>
          <p:cNvSpPr txBox="true"/>
          <p:nvPr/>
        </p:nvSpPr>
        <p:spPr>
          <a:xfrm rot="0">
            <a:off x="12260204" y="9297676"/>
            <a:ext cx="3769314" cy="414952"/>
          </a:xfrm>
          <a:prstGeom prst="rect">
            <a:avLst/>
          </a:prstGeom>
        </p:spPr>
        <p:txBody>
          <a:bodyPr anchor="t" rtlCol="false" tIns="0" lIns="0" bIns="0" rIns="0">
            <a:spAutoFit/>
          </a:bodyPr>
          <a:lstStyle/>
          <a:p>
            <a:pPr algn="l">
              <a:lnSpc>
                <a:spcPts val="3351"/>
              </a:lnSpc>
            </a:pPr>
            <a:r>
              <a:rPr lang="en-US" sz="2394">
                <a:solidFill>
                  <a:srgbClr val="000000"/>
                </a:solidFill>
                <a:latin typeface="Times New Roman"/>
                <a:ea typeface="Times New Roman"/>
                <a:cs typeface="Times New Roman"/>
                <a:sym typeface="Times New Roman"/>
              </a:rPr>
              <a:t>SRINATH N [721422205050]</a:t>
            </a:r>
          </a:p>
        </p:txBody>
      </p:sp>
      <p:sp>
        <p:nvSpPr>
          <p:cNvPr name="TextBox 17" id="17"/>
          <p:cNvSpPr txBox="true"/>
          <p:nvPr/>
        </p:nvSpPr>
        <p:spPr>
          <a:xfrm rot="0">
            <a:off x="12260204" y="5822804"/>
            <a:ext cx="4594746" cy="3340827"/>
          </a:xfrm>
          <a:prstGeom prst="rect">
            <a:avLst/>
          </a:prstGeom>
        </p:spPr>
        <p:txBody>
          <a:bodyPr anchor="t" rtlCol="false" tIns="0" lIns="0" bIns="0" rIns="0">
            <a:spAutoFit/>
          </a:bodyPr>
          <a:lstStyle/>
          <a:p>
            <a:pPr algn="l">
              <a:lnSpc>
                <a:spcPts val="4321"/>
              </a:lnSpc>
            </a:pPr>
            <a:r>
              <a:rPr lang="en-US" sz="2394">
                <a:solidFill>
                  <a:srgbClr val="000000"/>
                </a:solidFill>
                <a:latin typeface="Times New Roman"/>
                <a:ea typeface="Times New Roman"/>
                <a:cs typeface="Times New Roman"/>
                <a:sym typeface="Times New Roman"/>
              </a:rPr>
              <a:t>DOMAIN NAME: MACHINE LEARNING</a:t>
            </a:r>
          </a:p>
          <a:p>
            <a:pPr algn="l">
              <a:lnSpc>
                <a:spcPts val="5692"/>
              </a:lnSpc>
            </a:pPr>
            <a:r>
              <a:rPr lang="en-US" sz="2394">
                <a:solidFill>
                  <a:srgbClr val="000000"/>
                </a:solidFill>
                <a:latin typeface="Times New Roman"/>
                <a:ea typeface="Times New Roman"/>
                <a:cs typeface="Times New Roman"/>
                <a:sym typeface="Times New Roman"/>
              </a:rPr>
              <a:t>TEAM MEMBERS:</a:t>
            </a:r>
          </a:p>
          <a:p>
            <a:pPr algn="l">
              <a:lnSpc>
                <a:spcPts val="2947"/>
              </a:lnSpc>
            </a:pPr>
            <a:r>
              <a:rPr lang="en-US" sz="2394">
                <a:solidFill>
                  <a:srgbClr val="000000"/>
                </a:solidFill>
                <a:latin typeface="Times New Roman"/>
                <a:ea typeface="Times New Roman"/>
                <a:cs typeface="Times New Roman"/>
                <a:sym typeface="Times New Roman"/>
              </a:rPr>
              <a:t>EZHILARASAN A [721422205021]</a:t>
            </a:r>
          </a:p>
          <a:p>
            <a:pPr algn="l">
              <a:lnSpc>
                <a:spcPts val="5695"/>
              </a:lnSpc>
            </a:pPr>
            <a:r>
              <a:rPr lang="en-US" sz="2394">
                <a:solidFill>
                  <a:srgbClr val="000000"/>
                </a:solidFill>
                <a:latin typeface="Times New Roman"/>
                <a:ea typeface="Times New Roman"/>
                <a:cs typeface="Times New Roman"/>
                <a:sym typeface="Times New Roman"/>
              </a:rPr>
              <a:t>JAYAPRADPA J [72142205027]</a:t>
            </a:r>
          </a:p>
          <a:p>
            <a:pPr algn="l">
              <a:lnSpc>
                <a:spcPts val="3356"/>
              </a:lnSpc>
            </a:pPr>
            <a:r>
              <a:rPr lang="en-US" sz="2397">
                <a:solidFill>
                  <a:srgbClr val="000000"/>
                </a:solidFill>
                <a:latin typeface="Times New Roman"/>
                <a:ea typeface="Times New Roman"/>
                <a:cs typeface="Times New Roman"/>
                <a:sym typeface="Times New Roman"/>
              </a:rPr>
              <a:t>NAGENDHIRAN V [72142220538]</a:t>
            </a:r>
          </a:p>
        </p:txBody>
      </p:sp>
      <p:sp>
        <p:nvSpPr>
          <p:cNvPr name="TextBox 18" id="18"/>
          <p:cNvSpPr txBox="true"/>
          <p:nvPr/>
        </p:nvSpPr>
        <p:spPr>
          <a:xfrm rot="0">
            <a:off x="1316736" y="5819327"/>
            <a:ext cx="1049474" cy="415495"/>
          </a:xfrm>
          <a:prstGeom prst="rect">
            <a:avLst/>
          </a:prstGeom>
        </p:spPr>
        <p:txBody>
          <a:bodyPr anchor="t" rtlCol="false" tIns="0" lIns="0" bIns="0" rIns="0">
            <a:spAutoFit/>
          </a:bodyPr>
          <a:lstStyle/>
          <a:p>
            <a:pPr algn="l">
              <a:lnSpc>
                <a:spcPts val="3356"/>
              </a:lnSpc>
            </a:pPr>
            <a:r>
              <a:rPr lang="en-US" sz="2397">
                <a:solidFill>
                  <a:srgbClr val="000000"/>
                </a:solidFill>
                <a:latin typeface="Times New Roman"/>
                <a:ea typeface="Times New Roman"/>
                <a:cs typeface="Times New Roman"/>
                <a:sym typeface="Times New Roman"/>
              </a:rPr>
              <a:t>GUIDE: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287768" y="669703"/>
            <a:ext cx="2956041"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ABSTRACT</a:t>
            </a:r>
          </a:p>
        </p:txBody>
      </p:sp>
      <p:sp>
        <p:nvSpPr>
          <p:cNvPr name="TextBox 3" id="3"/>
          <p:cNvSpPr txBox="true"/>
          <p:nvPr/>
        </p:nvSpPr>
        <p:spPr>
          <a:xfrm rot="0">
            <a:off x="790499" y="2107011"/>
            <a:ext cx="311639" cy="470425"/>
          </a:xfrm>
          <a:prstGeom prst="rect">
            <a:avLst/>
          </a:prstGeom>
        </p:spPr>
        <p:txBody>
          <a:bodyPr anchor="t" rtlCol="false" tIns="0" lIns="0" bIns="0" rIns="0">
            <a:spAutoFit/>
          </a:bodyPr>
          <a:lstStyle/>
          <a:p>
            <a:pPr algn="l">
              <a:lnSpc>
                <a:spcPts val="3779"/>
              </a:lnSpc>
            </a:pPr>
            <a:r>
              <a:rPr lang="en-US" sz="2700">
                <a:solidFill>
                  <a:srgbClr val="000000"/>
                </a:solidFill>
                <a:latin typeface="Arimo"/>
                <a:ea typeface="Arimo"/>
                <a:cs typeface="Arimo"/>
                <a:sym typeface="Arimo"/>
              </a:rPr>
              <a:t>❖</a:t>
            </a:r>
          </a:p>
        </p:txBody>
      </p:sp>
      <p:sp>
        <p:nvSpPr>
          <p:cNvPr name="TextBox 4" id="4"/>
          <p:cNvSpPr txBox="true"/>
          <p:nvPr/>
        </p:nvSpPr>
        <p:spPr>
          <a:xfrm rot="0">
            <a:off x="1220724" y="7684203"/>
            <a:ext cx="12207326" cy="1220938"/>
          </a:xfrm>
          <a:prstGeom prst="rect">
            <a:avLst/>
          </a:prstGeom>
        </p:spPr>
        <p:txBody>
          <a:bodyPr anchor="t" rtlCol="false" tIns="0" lIns="0" bIns="0" rIns="0">
            <a:spAutoFit/>
          </a:bodyPr>
          <a:lstStyle/>
          <a:p>
            <a:pPr algn="l">
              <a:lnSpc>
                <a:spcPts val="4208"/>
              </a:lnSpc>
            </a:pPr>
            <a:r>
              <a:rPr lang="en-US" sz="3006">
                <a:solidFill>
                  <a:srgbClr val="000000"/>
                </a:solidFill>
                <a:latin typeface="Times New Roman"/>
                <a:ea typeface="Times New Roman"/>
                <a:cs typeface="Times New Roman"/>
                <a:sym typeface="Times New Roman"/>
              </a:rPr>
              <a:t> This approach helps farmers detect diseases early and apply the correct productivity and reducing manual monitoring efforts. </a:t>
            </a:r>
          </a:p>
        </p:txBody>
      </p:sp>
      <p:sp>
        <p:nvSpPr>
          <p:cNvPr name="TextBox 5" id="5"/>
          <p:cNvSpPr txBox="true"/>
          <p:nvPr/>
        </p:nvSpPr>
        <p:spPr>
          <a:xfrm rot="0">
            <a:off x="13285275" y="7684203"/>
            <a:ext cx="4353316" cy="535010"/>
          </a:xfrm>
          <a:prstGeom prst="rect">
            <a:avLst/>
          </a:prstGeom>
        </p:spPr>
        <p:txBody>
          <a:bodyPr anchor="t" rtlCol="false" tIns="0" lIns="0" bIns="0" rIns="0">
            <a:spAutoFit/>
          </a:bodyPr>
          <a:lstStyle/>
          <a:p>
            <a:pPr algn="l">
              <a:lnSpc>
                <a:spcPts val="4208"/>
              </a:lnSpc>
            </a:pPr>
            <a:r>
              <a:rPr lang="en-US" sz="3006">
                <a:solidFill>
                  <a:srgbClr val="000000"/>
                </a:solidFill>
                <a:latin typeface="Times New Roman"/>
                <a:ea typeface="Times New Roman"/>
                <a:cs typeface="Times New Roman"/>
                <a:sym typeface="Times New Roman"/>
              </a:rPr>
              <a:t>treatment, improving crop </a:t>
            </a:r>
          </a:p>
        </p:txBody>
      </p:sp>
      <p:sp>
        <p:nvSpPr>
          <p:cNvPr name="TextBox 6" id="6"/>
          <p:cNvSpPr txBox="true"/>
          <p:nvPr/>
        </p:nvSpPr>
        <p:spPr>
          <a:xfrm rot="0">
            <a:off x="1220724" y="2092071"/>
            <a:ext cx="16659168" cy="2011470"/>
          </a:xfrm>
          <a:prstGeom prst="rect">
            <a:avLst/>
          </a:prstGeom>
        </p:spPr>
        <p:txBody>
          <a:bodyPr anchor="t" rtlCol="false" tIns="0" lIns="0" bIns="0" rIns="0">
            <a:spAutoFit/>
          </a:bodyPr>
          <a:lstStyle/>
          <a:p>
            <a:pPr algn="just">
              <a:lnSpc>
                <a:spcPts val="5398"/>
              </a:lnSpc>
            </a:pPr>
            <a:r>
              <a:rPr lang="en-US" sz="3006" spc="30">
                <a:solidFill>
                  <a:srgbClr val="000000"/>
                </a:solidFill>
                <a:latin typeface="Times New Roman"/>
                <a:ea typeface="Times New Roman"/>
                <a:cs typeface="Times New Roman"/>
                <a:sym typeface="Times New Roman"/>
              </a:rPr>
              <a:t> Agriculture productivity is highly affected by plant diseases, which reduce crop quality and yield if not detected early. This project proposes an automated leaf disease detection system using image processing </a:t>
            </a:r>
          </a:p>
          <a:p>
            <a:pPr algn="just">
              <a:lnSpc>
                <a:spcPts val="4213"/>
              </a:lnSpc>
            </a:pPr>
            <a:r>
              <a:rPr lang="en-US" sz="3009">
                <a:solidFill>
                  <a:srgbClr val="000000"/>
                </a:solidFill>
                <a:latin typeface="Times New Roman"/>
                <a:ea typeface="Times New Roman"/>
                <a:cs typeface="Times New Roman"/>
                <a:sym typeface="Times New Roman"/>
              </a:rPr>
              <a:t>and artificial neural network techniques. </a:t>
            </a:r>
          </a:p>
        </p:txBody>
      </p:sp>
      <p:sp>
        <p:nvSpPr>
          <p:cNvPr name="TextBox 7" id="7"/>
          <p:cNvSpPr txBox="true"/>
          <p:nvPr/>
        </p:nvSpPr>
        <p:spPr>
          <a:xfrm rot="0">
            <a:off x="1220724" y="4826317"/>
            <a:ext cx="16659168" cy="2021281"/>
          </a:xfrm>
          <a:prstGeom prst="rect">
            <a:avLst/>
          </a:prstGeom>
        </p:spPr>
        <p:txBody>
          <a:bodyPr anchor="t" rtlCol="false" tIns="0" lIns="0" bIns="0" rIns="0">
            <a:spAutoFit/>
          </a:bodyPr>
          <a:lstStyle/>
          <a:p>
            <a:pPr algn="just">
              <a:lnSpc>
                <a:spcPts val="5401"/>
              </a:lnSpc>
            </a:pPr>
            <a:r>
              <a:rPr lang="en-US" sz="3006" spc="30">
                <a:solidFill>
                  <a:srgbClr val="000000"/>
                </a:solidFill>
                <a:latin typeface="Times New Roman"/>
                <a:ea typeface="Times New Roman"/>
                <a:cs typeface="Times New Roman"/>
                <a:sym typeface="Times New Roman"/>
              </a:rPr>
              <a:t>The system captures leaf images, processes them, and identifies the disease based on extracted features. After detecting the disease, the system recommends the appropriate fertilizer for treatment. Based on the identified disease, the system automatically activates the fertilizer spraying pump.</a:t>
            </a:r>
          </a:p>
        </p:txBody>
      </p:sp>
      <p:sp>
        <p:nvSpPr>
          <p:cNvPr name="TextBox 8" id="8"/>
          <p:cNvSpPr txBox="true"/>
          <p:nvPr/>
        </p:nvSpPr>
        <p:spPr>
          <a:xfrm rot="0">
            <a:off x="790499" y="4788837"/>
            <a:ext cx="346958" cy="525713"/>
          </a:xfrm>
          <a:prstGeom prst="rect">
            <a:avLst/>
          </a:prstGeom>
        </p:spPr>
        <p:txBody>
          <a:bodyPr anchor="t" rtlCol="false" tIns="0" lIns="0" bIns="0" rIns="0">
            <a:spAutoFit/>
          </a:bodyPr>
          <a:lstStyle/>
          <a:p>
            <a:pPr algn="l">
              <a:lnSpc>
                <a:spcPts val="4208"/>
              </a:lnSpc>
            </a:pPr>
            <a:r>
              <a:rPr lang="en-US" sz="3006">
                <a:solidFill>
                  <a:srgbClr val="000000"/>
                </a:solidFill>
                <a:latin typeface="Arimo"/>
                <a:ea typeface="Arimo"/>
                <a:cs typeface="Arimo"/>
                <a:sym typeface="Arimo"/>
              </a:rPr>
              <a:t>❖</a:t>
            </a:r>
          </a:p>
        </p:txBody>
      </p:sp>
      <p:sp>
        <p:nvSpPr>
          <p:cNvPr name="TextBox 9" id="9"/>
          <p:cNvSpPr txBox="true"/>
          <p:nvPr/>
        </p:nvSpPr>
        <p:spPr>
          <a:xfrm rot="0">
            <a:off x="790499" y="7532422"/>
            <a:ext cx="346958" cy="525713"/>
          </a:xfrm>
          <a:prstGeom prst="rect">
            <a:avLst/>
          </a:prstGeom>
        </p:spPr>
        <p:txBody>
          <a:bodyPr anchor="t" rtlCol="false" tIns="0" lIns="0" bIns="0" rIns="0">
            <a:spAutoFit/>
          </a:bodyPr>
          <a:lstStyle/>
          <a:p>
            <a:pPr algn="l">
              <a:lnSpc>
                <a:spcPts val="4208"/>
              </a:lnSpc>
            </a:pPr>
            <a:r>
              <a:rPr lang="en-US" sz="3006">
                <a:solidFill>
                  <a:srgbClr val="000000"/>
                </a:solidFill>
                <a:latin typeface="Arimo"/>
                <a:ea typeface="Arimo"/>
                <a:cs typeface="Arimo"/>
                <a:sym typeface="Arimo"/>
              </a:rPr>
              <a:t>❖</a:t>
            </a:r>
          </a:p>
        </p:txBody>
      </p:sp>
      <p:sp>
        <p:nvSpPr>
          <p:cNvPr name="TextBox 10" id="10"/>
          <p:cNvSpPr txBox="true"/>
          <p:nvPr/>
        </p:nvSpPr>
        <p:spPr>
          <a:xfrm rot="0">
            <a:off x="17556866" y="9585293"/>
            <a:ext cx="157234" cy="454419"/>
          </a:xfrm>
          <a:prstGeom prst="rect">
            <a:avLst/>
          </a:prstGeom>
        </p:spPr>
        <p:txBody>
          <a:bodyPr anchor="t" rtlCol="false" tIns="0" lIns="0" bIns="0" rIns="0">
            <a:spAutoFit/>
          </a:bodyPr>
          <a:lstStyle/>
          <a:p>
            <a:pPr algn="l">
              <a:lnSpc>
                <a:spcPts val="3351"/>
              </a:lnSpc>
            </a:pPr>
            <a:r>
              <a:rPr lang="en-US" sz="2394">
                <a:solidFill>
                  <a:srgbClr val="FFFFFF"/>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829239" y="663231"/>
            <a:ext cx="4341986"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INTRODUCTION</a:t>
            </a:r>
          </a:p>
        </p:txBody>
      </p:sp>
      <p:sp>
        <p:nvSpPr>
          <p:cNvPr name="TextBox 3" id="3"/>
          <p:cNvSpPr txBox="true"/>
          <p:nvPr/>
        </p:nvSpPr>
        <p:spPr>
          <a:xfrm rot="0">
            <a:off x="820217" y="1935337"/>
            <a:ext cx="346958" cy="525713"/>
          </a:xfrm>
          <a:prstGeom prst="rect">
            <a:avLst/>
          </a:prstGeom>
        </p:spPr>
        <p:txBody>
          <a:bodyPr anchor="t" rtlCol="false" tIns="0" lIns="0" bIns="0" rIns="0">
            <a:spAutoFit/>
          </a:bodyPr>
          <a:lstStyle/>
          <a:p>
            <a:pPr algn="l">
              <a:lnSpc>
                <a:spcPts val="4208"/>
              </a:lnSpc>
            </a:pPr>
            <a:r>
              <a:rPr lang="en-US" sz="3006">
                <a:solidFill>
                  <a:srgbClr val="000000"/>
                </a:solidFill>
                <a:latin typeface="Arimo"/>
                <a:ea typeface="Arimo"/>
                <a:cs typeface="Arimo"/>
                <a:sym typeface="Arimo"/>
              </a:rPr>
              <a:t>❖</a:t>
            </a:r>
          </a:p>
        </p:txBody>
      </p:sp>
      <p:sp>
        <p:nvSpPr>
          <p:cNvPr name="TextBox 4" id="4"/>
          <p:cNvSpPr txBox="true"/>
          <p:nvPr/>
        </p:nvSpPr>
        <p:spPr>
          <a:xfrm rot="0">
            <a:off x="820217" y="6736894"/>
            <a:ext cx="346958" cy="525713"/>
          </a:xfrm>
          <a:prstGeom prst="rect">
            <a:avLst/>
          </a:prstGeom>
        </p:spPr>
        <p:txBody>
          <a:bodyPr anchor="t" rtlCol="false" tIns="0" lIns="0" bIns="0" rIns="0">
            <a:spAutoFit/>
          </a:bodyPr>
          <a:lstStyle/>
          <a:p>
            <a:pPr algn="l">
              <a:lnSpc>
                <a:spcPts val="4208"/>
              </a:lnSpc>
            </a:pPr>
            <a:r>
              <a:rPr lang="en-US" sz="3006">
                <a:solidFill>
                  <a:srgbClr val="000000"/>
                </a:solidFill>
                <a:latin typeface="Arimo"/>
                <a:ea typeface="Arimo"/>
                <a:cs typeface="Arimo"/>
                <a:sym typeface="Arimo"/>
              </a:rPr>
              <a:t>❖</a:t>
            </a:r>
          </a:p>
        </p:txBody>
      </p:sp>
      <p:sp>
        <p:nvSpPr>
          <p:cNvPr name="TextBox 5" id="5"/>
          <p:cNvSpPr txBox="true"/>
          <p:nvPr/>
        </p:nvSpPr>
        <p:spPr>
          <a:xfrm rot="0">
            <a:off x="1249985" y="6888675"/>
            <a:ext cx="16638651" cy="1220895"/>
          </a:xfrm>
          <a:prstGeom prst="rect">
            <a:avLst/>
          </a:prstGeom>
        </p:spPr>
        <p:txBody>
          <a:bodyPr anchor="t" rtlCol="false" tIns="0" lIns="0" bIns="0" rIns="0">
            <a:spAutoFit/>
          </a:bodyPr>
          <a:lstStyle/>
          <a:p>
            <a:pPr algn="l">
              <a:lnSpc>
                <a:spcPts val="4208"/>
              </a:lnSpc>
            </a:pPr>
            <a:r>
              <a:rPr lang="en-US" sz="3006" spc="33">
                <a:solidFill>
                  <a:srgbClr val="000000"/>
                </a:solidFill>
                <a:latin typeface="Times New Roman"/>
                <a:ea typeface="Times New Roman"/>
                <a:cs typeface="Times New Roman"/>
                <a:sym typeface="Times New Roman"/>
              </a:rPr>
              <a:t>This project focuses on detecting leaf diseases and recommending suitable fertilizers for treatment. The system also activates a fertilizer spraying mechanism to support efficient and timely crop management</a:t>
            </a:r>
          </a:p>
        </p:txBody>
      </p:sp>
      <p:sp>
        <p:nvSpPr>
          <p:cNvPr name="TextBox 6" id="6"/>
          <p:cNvSpPr txBox="true"/>
          <p:nvPr/>
        </p:nvSpPr>
        <p:spPr>
          <a:xfrm rot="0">
            <a:off x="1249985" y="2087118"/>
            <a:ext cx="16638651" cy="1220895"/>
          </a:xfrm>
          <a:prstGeom prst="rect">
            <a:avLst/>
          </a:prstGeom>
        </p:spPr>
        <p:txBody>
          <a:bodyPr anchor="t" rtlCol="false" tIns="0" lIns="0" bIns="0" rIns="0">
            <a:spAutoFit/>
          </a:bodyPr>
          <a:lstStyle/>
          <a:p>
            <a:pPr algn="l">
              <a:lnSpc>
                <a:spcPts val="4208"/>
              </a:lnSpc>
            </a:pPr>
            <a:r>
              <a:rPr lang="en-US" sz="3006" spc="57">
                <a:solidFill>
                  <a:srgbClr val="000000"/>
                </a:solidFill>
                <a:latin typeface="Times New Roman"/>
                <a:ea typeface="Times New Roman"/>
                <a:cs typeface="Times New Roman"/>
                <a:sym typeface="Times New Roman"/>
              </a:rPr>
              <a:t>Agriculture plays a vital role in food production and economic development. However, plant diseases significantly affect crop growth and reduce agricultural productivity. </a:t>
            </a:r>
          </a:p>
        </p:txBody>
      </p:sp>
      <p:sp>
        <p:nvSpPr>
          <p:cNvPr name="TextBox 7" id="7"/>
          <p:cNvSpPr txBox="true"/>
          <p:nvPr/>
        </p:nvSpPr>
        <p:spPr>
          <a:xfrm rot="0">
            <a:off x="820217" y="4250484"/>
            <a:ext cx="346958" cy="268538"/>
          </a:xfrm>
          <a:prstGeom prst="rect">
            <a:avLst/>
          </a:prstGeom>
        </p:spPr>
        <p:txBody>
          <a:bodyPr anchor="t" rtlCol="false" tIns="0" lIns="0" bIns="0" rIns="0">
            <a:spAutoFit/>
          </a:bodyPr>
          <a:lstStyle/>
          <a:p>
            <a:pPr algn="l">
              <a:lnSpc>
                <a:spcPts val="1503"/>
              </a:lnSpc>
            </a:pPr>
            <a:r>
              <a:rPr lang="en-US" sz="3006">
                <a:solidFill>
                  <a:srgbClr val="000000"/>
                </a:solidFill>
                <a:latin typeface="Arimo"/>
                <a:ea typeface="Arimo"/>
                <a:cs typeface="Arimo"/>
                <a:sym typeface="Arimo"/>
              </a:rPr>
              <a:t>❖</a:t>
            </a:r>
          </a:p>
        </p:txBody>
      </p:sp>
      <p:sp>
        <p:nvSpPr>
          <p:cNvPr name="TextBox 8" id="8"/>
          <p:cNvSpPr txBox="true"/>
          <p:nvPr/>
        </p:nvSpPr>
        <p:spPr>
          <a:xfrm rot="0">
            <a:off x="1249985" y="4402264"/>
            <a:ext cx="16638651" cy="1649806"/>
          </a:xfrm>
          <a:prstGeom prst="rect">
            <a:avLst/>
          </a:prstGeom>
        </p:spPr>
        <p:txBody>
          <a:bodyPr anchor="t" rtlCol="false" tIns="0" lIns="0" bIns="0" rIns="0">
            <a:spAutoFit/>
          </a:bodyPr>
          <a:lstStyle/>
          <a:p>
            <a:pPr algn="just">
              <a:lnSpc>
                <a:spcPts val="1503"/>
              </a:lnSpc>
            </a:pPr>
            <a:r>
              <a:rPr lang="en-US" sz="3006" spc="21">
                <a:solidFill>
                  <a:srgbClr val="000000"/>
                </a:solidFill>
                <a:latin typeface="Times New Roman"/>
                <a:ea typeface="Times New Roman"/>
                <a:cs typeface="Times New Roman"/>
                <a:sym typeface="Times New Roman"/>
              </a:rPr>
              <a:t>Early identification of leaf diseases is essential to prevent crop damage and ensure healthy plant growth. </a:t>
            </a:r>
          </a:p>
          <a:p>
            <a:pPr algn="just">
              <a:lnSpc>
                <a:spcPts val="7515"/>
              </a:lnSpc>
            </a:pPr>
            <a:r>
              <a:rPr lang="en-US" sz="3006" spc="18">
                <a:solidFill>
                  <a:srgbClr val="000000"/>
                </a:solidFill>
                <a:latin typeface="Times New Roman"/>
                <a:ea typeface="Times New Roman"/>
                <a:cs typeface="Times New Roman"/>
                <a:sym typeface="Times New Roman"/>
              </a:rPr>
              <a:t>With the help of modern technologies such as image processing and artificial intelligence, plant diseases </a:t>
            </a:r>
          </a:p>
          <a:p>
            <a:pPr algn="just">
              <a:lnSpc>
                <a:spcPts val="3291"/>
              </a:lnSpc>
            </a:pPr>
            <a:r>
              <a:rPr lang="en-US" sz="3006">
                <a:solidFill>
                  <a:srgbClr val="000000"/>
                </a:solidFill>
                <a:latin typeface="Times New Roman"/>
                <a:ea typeface="Times New Roman"/>
                <a:cs typeface="Times New Roman"/>
                <a:sym typeface="Times New Roman"/>
              </a:rPr>
              <a:t>can be detected automatically. </a:t>
            </a:r>
          </a:p>
        </p:txBody>
      </p:sp>
      <p:sp>
        <p:nvSpPr>
          <p:cNvPr name="TextBox 9" id="9"/>
          <p:cNvSpPr txBox="true"/>
          <p:nvPr/>
        </p:nvSpPr>
        <p:spPr>
          <a:xfrm rot="0">
            <a:off x="17556866" y="9585293"/>
            <a:ext cx="157234" cy="454419"/>
          </a:xfrm>
          <a:prstGeom prst="rect">
            <a:avLst/>
          </a:prstGeom>
        </p:spPr>
        <p:txBody>
          <a:bodyPr anchor="t" rtlCol="false" tIns="0" lIns="0" bIns="0" rIns="0">
            <a:spAutoFit/>
          </a:bodyPr>
          <a:lstStyle/>
          <a:p>
            <a:pPr algn="l">
              <a:lnSpc>
                <a:spcPts val="3351"/>
              </a:lnSpc>
            </a:pPr>
            <a:r>
              <a:rPr lang="en-US" sz="2394">
                <a:solidFill>
                  <a:srgbClr val="FFFFFF"/>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776954" y="9622698"/>
            <a:ext cx="118458" cy="339619"/>
          </a:xfrm>
          <a:prstGeom prst="rect">
            <a:avLst/>
          </a:prstGeom>
        </p:spPr>
        <p:txBody>
          <a:bodyPr anchor="t" rtlCol="false" tIns="0" lIns="0" bIns="0" rIns="0">
            <a:spAutoFit/>
          </a:bodyPr>
          <a:lstStyle/>
          <a:p>
            <a:pPr algn="l">
              <a:lnSpc>
                <a:spcPts val="2525"/>
              </a:lnSpc>
            </a:pPr>
            <a:r>
              <a:rPr lang="en-US" sz="1803">
                <a:solidFill>
                  <a:srgbClr val="FFFFFF"/>
                </a:solidFill>
                <a:latin typeface="Calibri (MS)"/>
                <a:ea typeface="Calibri (MS)"/>
                <a:cs typeface="Calibri (MS)"/>
                <a:sym typeface="Calibri (MS)"/>
              </a:rPr>
              <a:t>4</a:t>
            </a:r>
          </a:p>
        </p:txBody>
      </p:sp>
      <p:sp>
        <p:nvSpPr>
          <p:cNvPr name="TextBox 3" id="3"/>
          <p:cNvSpPr txBox="true"/>
          <p:nvPr/>
        </p:nvSpPr>
        <p:spPr>
          <a:xfrm rot="0">
            <a:off x="6678735" y="651801"/>
            <a:ext cx="5029243"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EXISTING SYSTEM</a:t>
            </a:r>
          </a:p>
        </p:txBody>
      </p:sp>
      <p:sp>
        <p:nvSpPr>
          <p:cNvPr name="TextBox 4" id="4"/>
          <p:cNvSpPr txBox="true"/>
          <p:nvPr/>
        </p:nvSpPr>
        <p:spPr>
          <a:xfrm rot="0">
            <a:off x="722833" y="1774479"/>
            <a:ext cx="17259900" cy="4301638"/>
          </a:xfrm>
          <a:prstGeom prst="rect">
            <a:avLst/>
          </a:prstGeom>
        </p:spPr>
        <p:txBody>
          <a:bodyPr anchor="t" rtlCol="false" tIns="0" lIns="0" bIns="0" rIns="0">
            <a:spAutoFit/>
          </a:bodyPr>
          <a:lstStyle/>
          <a:p>
            <a:pPr algn="just">
              <a:lnSpc>
                <a:spcPts val="5762"/>
              </a:lnSpc>
            </a:pPr>
            <a:r>
              <a:rPr lang="en-US" sz="2394" spc="28">
                <a:solidFill>
                  <a:srgbClr val="000000"/>
                </a:solidFill>
                <a:latin typeface="Times New Roman"/>
                <a:ea typeface="Times New Roman"/>
                <a:cs typeface="Times New Roman"/>
                <a:sym typeface="Times New Roman"/>
              </a:rPr>
              <a:t>In the existing system, plant disease detection is mainly performed using basic image processing techniques. A study titled </a:t>
            </a:r>
            <a:r>
              <a:rPr lang="en-US" b="true" sz="2394" i="true" spc="28">
                <a:solidFill>
                  <a:srgbClr val="000000"/>
                </a:solidFill>
                <a:latin typeface="Times New Roman Bold Italics"/>
                <a:ea typeface="Times New Roman Bold Italics"/>
                <a:cs typeface="Times New Roman Bold Italics"/>
                <a:sym typeface="Times New Roman Bold Italics"/>
              </a:rPr>
              <a:t>Plant Leaf Disease Detection Using Image Processing by S. Arivazhagan (2016)</a:t>
            </a:r>
            <a:r>
              <a:rPr lang="en-US" sz="2394" spc="28">
                <a:solidFill>
                  <a:srgbClr val="000000"/>
                </a:solidFill>
                <a:latin typeface="Times New Roman"/>
                <a:ea typeface="Times New Roman"/>
                <a:cs typeface="Times New Roman"/>
                <a:sym typeface="Times New Roman"/>
              </a:rPr>
              <a:t> explains that leaf images are captured and processed using segmentation and feature extraction methods to identify disease symptoms. The system analyzes color, texture, and pattern variations on the leaf surface to classify diseases. However, this approach mainly focuses only on disease identification and does not provide automatic treatment or fertilizer recommendation. It also requires manual monitoring and does not include any automated fertilizer spraying </a:t>
            </a:r>
          </a:p>
          <a:p>
            <a:pPr algn="just">
              <a:lnSpc>
                <a:spcPts val="3356"/>
              </a:lnSpc>
            </a:pPr>
            <a:r>
              <a:rPr lang="en-US" sz="2397" spc="4">
                <a:solidFill>
                  <a:srgbClr val="000000"/>
                </a:solidFill>
                <a:latin typeface="Times New Roman"/>
                <a:ea typeface="Times New Roman"/>
                <a:cs typeface="Times New Roman"/>
                <a:sym typeface="Times New Roman"/>
              </a:rPr>
              <a:t>mechanism, which limits its practical use in real-time agricultural applications</a:t>
            </a:r>
          </a:p>
        </p:txBody>
      </p:sp>
      <p:sp>
        <p:nvSpPr>
          <p:cNvPr name="TextBox 5" id="5"/>
          <p:cNvSpPr txBox="true"/>
          <p:nvPr/>
        </p:nvSpPr>
        <p:spPr>
          <a:xfrm rot="0">
            <a:off x="774040" y="6505761"/>
            <a:ext cx="2760645" cy="470225"/>
          </a:xfrm>
          <a:prstGeom prst="rect">
            <a:avLst/>
          </a:prstGeom>
        </p:spPr>
        <p:txBody>
          <a:bodyPr anchor="t" rtlCol="false" tIns="0" lIns="0" bIns="0" rIns="0">
            <a:spAutoFit/>
          </a:bodyPr>
          <a:lstStyle/>
          <a:p>
            <a:pPr algn="l">
              <a:lnSpc>
                <a:spcPts val="3779"/>
              </a:lnSpc>
            </a:pPr>
            <a:r>
              <a:rPr lang="en-US" b="true" sz="2700">
                <a:solidFill>
                  <a:srgbClr val="000000"/>
                </a:solidFill>
                <a:latin typeface="Times New Roman Bold"/>
                <a:ea typeface="Times New Roman Bold"/>
                <a:cs typeface="Times New Roman Bold"/>
                <a:sym typeface="Times New Roman Bold"/>
              </a:rPr>
              <a:t>DISADVANTAGE</a:t>
            </a:r>
          </a:p>
        </p:txBody>
      </p:sp>
      <p:sp>
        <p:nvSpPr>
          <p:cNvPr name="TextBox 6" id="6"/>
          <p:cNvSpPr txBox="true"/>
          <p:nvPr/>
        </p:nvSpPr>
        <p:spPr>
          <a:xfrm rot="0">
            <a:off x="860450" y="6973162"/>
            <a:ext cx="276320" cy="2156279"/>
          </a:xfrm>
          <a:prstGeom prst="rect">
            <a:avLst/>
          </a:prstGeom>
        </p:spPr>
        <p:txBody>
          <a:bodyPr anchor="t" rtlCol="false" tIns="0" lIns="0" bIns="0" rIns="0">
            <a:spAutoFit/>
          </a:bodyPr>
          <a:lstStyle/>
          <a:p>
            <a:pPr algn="just">
              <a:lnSpc>
                <a:spcPts val="4321"/>
              </a:lnSpc>
            </a:pPr>
            <a:r>
              <a:rPr lang="en-US" sz="2394">
                <a:solidFill>
                  <a:srgbClr val="000000"/>
                </a:solidFill>
                <a:latin typeface="Arimo"/>
                <a:ea typeface="Arimo"/>
                <a:cs typeface="Arimo"/>
                <a:sym typeface="Arimo"/>
              </a:rPr>
              <a:t>❖ ❖ ❖ ❖</a:t>
            </a:r>
          </a:p>
        </p:txBody>
      </p:sp>
      <p:sp>
        <p:nvSpPr>
          <p:cNvPr name="TextBox 7" id="7"/>
          <p:cNvSpPr txBox="true"/>
          <p:nvPr/>
        </p:nvSpPr>
        <p:spPr>
          <a:xfrm rot="0">
            <a:off x="1290218" y="7101621"/>
            <a:ext cx="2742729" cy="510202"/>
          </a:xfrm>
          <a:prstGeom prst="rect">
            <a:avLst/>
          </a:prstGeom>
        </p:spPr>
        <p:txBody>
          <a:bodyPr anchor="t" rtlCol="false" tIns="0" lIns="0" bIns="0" rIns="0">
            <a:spAutoFit/>
          </a:bodyPr>
          <a:lstStyle/>
          <a:p>
            <a:pPr algn="l">
              <a:lnSpc>
                <a:spcPts val="4321"/>
              </a:lnSpc>
            </a:pPr>
            <a:r>
              <a:rPr lang="en-US" b="true" sz="2394" spc="4">
                <a:solidFill>
                  <a:srgbClr val="000000"/>
                </a:solidFill>
                <a:latin typeface="Times New Roman Bold"/>
                <a:ea typeface="Times New Roman Bold"/>
                <a:cs typeface="Times New Roman Bold"/>
                <a:sym typeface="Times New Roman Bold"/>
              </a:rPr>
              <a:t>Only detects disease</a:t>
            </a:r>
            <a:r>
              <a:rPr lang="en-US" sz="2394" spc="4">
                <a:solidFill>
                  <a:srgbClr val="000000"/>
                </a:solidFill>
                <a:latin typeface="Times New Roman"/>
                <a:ea typeface="Times New Roman"/>
                <a:cs typeface="Times New Roman"/>
                <a:sym typeface="Times New Roman"/>
              </a:rPr>
              <a:t> </a:t>
            </a:r>
          </a:p>
        </p:txBody>
      </p:sp>
      <p:sp>
        <p:nvSpPr>
          <p:cNvPr name="TextBox 8" id="8"/>
          <p:cNvSpPr txBox="true"/>
          <p:nvPr/>
        </p:nvSpPr>
        <p:spPr>
          <a:xfrm rot="0">
            <a:off x="1290218" y="7650261"/>
            <a:ext cx="3429300" cy="1058813"/>
          </a:xfrm>
          <a:prstGeom prst="rect">
            <a:avLst/>
          </a:prstGeom>
        </p:spPr>
        <p:txBody>
          <a:bodyPr anchor="t" rtlCol="false" tIns="0" lIns="0" bIns="0" rIns="0">
            <a:spAutoFit/>
          </a:bodyPr>
          <a:lstStyle/>
          <a:p>
            <a:pPr algn="l">
              <a:lnSpc>
                <a:spcPts val="4321"/>
              </a:lnSpc>
            </a:pPr>
            <a:r>
              <a:rPr lang="en-US" b="true" sz="2394">
                <a:solidFill>
                  <a:srgbClr val="000000"/>
                </a:solidFill>
                <a:latin typeface="Times New Roman Bold"/>
                <a:ea typeface="Times New Roman Bold"/>
                <a:cs typeface="Times New Roman Bold"/>
                <a:sym typeface="Times New Roman Bold"/>
              </a:rPr>
              <a:t>No automation</a:t>
            </a:r>
            <a:r>
              <a:rPr lang="en-US" sz="2394">
                <a:solidFill>
                  <a:srgbClr val="000000"/>
                </a:solidFill>
                <a:latin typeface="Times New Roman"/>
                <a:ea typeface="Times New Roman"/>
                <a:cs typeface="Times New Roman"/>
                <a:sym typeface="Times New Roman"/>
              </a:rPr>
              <a:t> </a:t>
            </a:r>
            <a:r>
              <a:rPr lang="en-US" b="true" sz="2394">
                <a:solidFill>
                  <a:srgbClr val="000000"/>
                </a:solidFill>
                <a:latin typeface="Times New Roman Bold"/>
                <a:ea typeface="Times New Roman Bold"/>
                <a:cs typeface="Times New Roman Bold"/>
                <a:sym typeface="Times New Roman Bold"/>
              </a:rPr>
              <a:t>Needs manual monitoring</a:t>
            </a:r>
          </a:p>
        </p:txBody>
      </p:sp>
      <p:sp>
        <p:nvSpPr>
          <p:cNvPr name="TextBox 9" id="9"/>
          <p:cNvSpPr txBox="true"/>
          <p:nvPr/>
        </p:nvSpPr>
        <p:spPr>
          <a:xfrm rot="0">
            <a:off x="1290218" y="8747512"/>
            <a:ext cx="1879992" cy="510202"/>
          </a:xfrm>
          <a:prstGeom prst="rect">
            <a:avLst/>
          </a:prstGeom>
        </p:spPr>
        <p:txBody>
          <a:bodyPr anchor="t" rtlCol="false" tIns="0" lIns="0" bIns="0" rIns="0">
            <a:spAutoFit/>
          </a:bodyPr>
          <a:lstStyle/>
          <a:p>
            <a:pPr algn="l">
              <a:lnSpc>
                <a:spcPts val="4321"/>
              </a:lnSpc>
            </a:pPr>
            <a:r>
              <a:rPr lang="en-US" b="true" sz="2394" spc="2">
                <a:solidFill>
                  <a:srgbClr val="000000"/>
                </a:solidFill>
                <a:latin typeface="Times New Roman Bold"/>
                <a:ea typeface="Times New Roman Bold"/>
                <a:cs typeface="Times New Roman Bold"/>
                <a:sym typeface="Times New Roman Bold"/>
              </a:rPr>
              <a:t>Less accurate</a:t>
            </a:r>
            <a:r>
              <a:rPr lang="en-US" sz="2394" spc="2">
                <a:solidFill>
                  <a:srgbClr val="000000"/>
                </a:solidFill>
                <a:latin typeface="Times New Roman"/>
                <a:ea typeface="Times New Roman"/>
                <a:cs typeface="Times New Roman"/>
                <a:sym typeface="Times New Roman"/>
              </a:rPr>
              <a:t> </a:t>
            </a:r>
          </a:p>
        </p:txBody>
      </p:sp>
      <p:sp>
        <p:nvSpPr>
          <p:cNvPr name="TextBox 10" id="10"/>
          <p:cNvSpPr txBox="true"/>
          <p:nvPr/>
        </p:nvSpPr>
        <p:spPr>
          <a:xfrm rot="0">
            <a:off x="3980883" y="7101621"/>
            <a:ext cx="6754044" cy="510202"/>
          </a:xfrm>
          <a:prstGeom prst="rect">
            <a:avLst/>
          </a:prstGeom>
        </p:spPr>
        <p:txBody>
          <a:bodyPr anchor="t" rtlCol="false" tIns="0" lIns="0" bIns="0" rIns="0">
            <a:spAutoFit/>
          </a:bodyPr>
          <a:lstStyle/>
          <a:p>
            <a:pPr algn="l">
              <a:lnSpc>
                <a:spcPts val="4321"/>
              </a:lnSpc>
            </a:pPr>
            <a:r>
              <a:rPr lang="en-US" sz="2394" spc="7">
                <a:solidFill>
                  <a:srgbClr val="000000"/>
                </a:solidFill>
                <a:latin typeface="Times New Roman"/>
                <a:ea typeface="Times New Roman"/>
                <a:cs typeface="Times New Roman"/>
                <a:sym typeface="Times New Roman"/>
              </a:rPr>
              <a:t>–does not provide treatment or fertilizer suggestions. </a:t>
            </a:r>
          </a:p>
        </p:txBody>
      </p:sp>
      <p:sp>
        <p:nvSpPr>
          <p:cNvPr name="TextBox 11" id="11"/>
          <p:cNvSpPr txBox="true"/>
          <p:nvPr/>
        </p:nvSpPr>
        <p:spPr>
          <a:xfrm rot="0">
            <a:off x="3306513" y="7650261"/>
            <a:ext cx="6201404" cy="510202"/>
          </a:xfrm>
          <a:prstGeom prst="rect">
            <a:avLst/>
          </a:prstGeom>
        </p:spPr>
        <p:txBody>
          <a:bodyPr anchor="t" rtlCol="false" tIns="0" lIns="0" bIns="0" rIns="0">
            <a:spAutoFit/>
          </a:bodyPr>
          <a:lstStyle/>
          <a:p>
            <a:pPr algn="l">
              <a:lnSpc>
                <a:spcPts val="4321"/>
              </a:lnSpc>
            </a:pPr>
            <a:r>
              <a:rPr lang="en-US" sz="2394" spc="4">
                <a:solidFill>
                  <a:srgbClr val="000000"/>
                </a:solidFill>
                <a:latin typeface="Times New Roman"/>
                <a:ea typeface="Times New Roman"/>
                <a:cs typeface="Times New Roman"/>
                <a:sym typeface="Times New Roman"/>
              </a:rPr>
              <a:t>–fertilizer or pesticide spraying is not automatic. </a:t>
            </a:r>
          </a:p>
        </p:txBody>
      </p:sp>
      <p:sp>
        <p:nvSpPr>
          <p:cNvPr name="TextBox 12" id="12"/>
          <p:cNvSpPr txBox="true"/>
          <p:nvPr/>
        </p:nvSpPr>
        <p:spPr>
          <a:xfrm rot="0">
            <a:off x="4740207" y="8198872"/>
            <a:ext cx="6990045" cy="510202"/>
          </a:xfrm>
          <a:prstGeom prst="rect">
            <a:avLst/>
          </a:prstGeom>
        </p:spPr>
        <p:txBody>
          <a:bodyPr anchor="t" rtlCol="false" tIns="0" lIns="0" bIns="0" rIns="0">
            <a:spAutoFit/>
          </a:bodyPr>
          <a:lstStyle/>
          <a:p>
            <a:pPr algn="l">
              <a:lnSpc>
                <a:spcPts val="4321"/>
              </a:lnSpc>
            </a:pPr>
            <a:r>
              <a:rPr lang="en-US" sz="2394" spc="2">
                <a:solidFill>
                  <a:srgbClr val="000000"/>
                </a:solidFill>
                <a:latin typeface="Times New Roman"/>
                <a:ea typeface="Times New Roman"/>
                <a:cs typeface="Times New Roman"/>
                <a:sym typeface="Times New Roman"/>
              </a:rPr>
              <a:t>– farmers must continuously check and capture images. </a:t>
            </a:r>
          </a:p>
        </p:txBody>
      </p:sp>
      <p:sp>
        <p:nvSpPr>
          <p:cNvPr name="TextBox 13" id="13"/>
          <p:cNvSpPr txBox="true"/>
          <p:nvPr/>
        </p:nvSpPr>
        <p:spPr>
          <a:xfrm rot="0">
            <a:off x="3137349" y="8747512"/>
            <a:ext cx="10944039" cy="510202"/>
          </a:xfrm>
          <a:prstGeom prst="rect">
            <a:avLst/>
          </a:prstGeom>
        </p:spPr>
        <p:txBody>
          <a:bodyPr anchor="t" rtlCol="false" tIns="0" lIns="0" bIns="0" rIns="0">
            <a:spAutoFit/>
          </a:bodyPr>
          <a:lstStyle/>
          <a:p>
            <a:pPr algn="l">
              <a:lnSpc>
                <a:spcPts val="4321"/>
              </a:lnSpc>
            </a:pPr>
            <a:r>
              <a:rPr lang="en-US" sz="2394" spc="2">
                <a:solidFill>
                  <a:srgbClr val="000000"/>
                </a:solidFill>
                <a:latin typeface="Times New Roman"/>
                <a:ea typeface="Times New Roman"/>
                <a:cs typeface="Times New Roman"/>
                <a:sym typeface="Times New Roman"/>
              </a:rPr>
              <a:t>–basicimage processing may give incorrect results under different lighting conditions.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98800" y="2178944"/>
            <a:ext cx="16690429" cy="5929127"/>
          </a:xfrm>
          <a:custGeom>
            <a:avLst/>
            <a:gdLst/>
            <a:ahLst/>
            <a:cxnLst/>
            <a:rect r="r" b="b" t="t" l="l"/>
            <a:pathLst>
              <a:path h="5929127" w="16690429">
                <a:moveTo>
                  <a:pt x="0" y="0"/>
                </a:moveTo>
                <a:lnTo>
                  <a:pt x="16690429" y="0"/>
                </a:lnTo>
                <a:lnTo>
                  <a:pt x="16690429" y="5929127"/>
                </a:lnTo>
                <a:lnTo>
                  <a:pt x="0" y="5929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776954" y="9622698"/>
            <a:ext cx="118458" cy="339619"/>
          </a:xfrm>
          <a:prstGeom prst="rect">
            <a:avLst/>
          </a:prstGeom>
        </p:spPr>
        <p:txBody>
          <a:bodyPr anchor="t" rtlCol="false" tIns="0" lIns="0" bIns="0" rIns="0">
            <a:spAutoFit/>
          </a:bodyPr>
          <a:lstStyle/>
          <a:p>
            <a:pPr algn="l">
              <a:lnSpc>
                <a:spcPts val="2525"/>
              </a:lnSpc>
            </a:pPr>
            <a:r>
              <a:rPr lang="en-US" sz="1803">
                <a:solidFill>
                  <a:srgbClr val="898989"/>
                </a:solidFill>
                <a:latin typeface="Calibri (MS)"/>
                <a:ea typeface="Calibri (MS)"/>
                <a:cs typeface="Calibri (MS)"/>
                <a:sym typeface="Calibri (MS)"/>
              </a:rPr>
              <a:t>5</a:t>
            </a:r>
          </a:p>
        </p:txBody>
      </p:sp>
      <p:sp>
        <p:nvSpPr>
          <p:cNvPr name="TextBox 4" id="4"/>
          <p:cNvSpPr txBox="true"/>
          <p:nvPr/>
        </p:nvSpPr>
        <p:spPr>
          <a:xfrm rot="0">
            <a:off x="1185520" y="2788477"/>
            <a:ext cx="393263" cy="781726"/>
          </a:xfrm>
          <a:prstGeom prst="rect">
            <a:avLst/>
          </a:prstGeom>
        </p:spPr>
        <p:txBody>
          <a:bodyPr anchor="t" rtlCol="false" tIns="0" lIns="0" bIns="0" rIns="0">
            <a:spAutoFit/>
          </a:bodyPr>
          <a:lstStyle/>
          <a:p>
            <a:pPr algn="r">
              <a:lnSpc>
                <a:spcPts val="3356"/>
              </a:lnSpc>
            </a:pPr>
            <a:r>
              <a:rPr lang="en-US" b="true" sz="2397">
                <a:solidFill>
                  <a:srgbClr val="000000"/>
                </a:solidFill>
                <a:latin typeface="Times New Roman Bold"/>
                <a:ea typeface="Times New Roman Bold"/>
                <a:cs typeface="Times New Roman Bold"/>
                <a:sym typeface="Times New Roman Bold"/>
              </a:rPr>
              <a:t>S. No</a:t>
            </a:r>
          </a:p>
        </p:txBody>
      </p:sp>
      <p:sp>
        <p:nvSpPr>
          <p:cNvPr name="TextBox 5" id="5"/>
          <p:cNvSpPr txBox="true"/>
          <p:nvPr/>
        </p:nvSpPr>
        <p:spPr>
          <a:xfrm rot="0">
            <a:off x="6865815" y="2605597"/>
            <a:ext cx="2133410" cy="415495"/>
          </a:xfrm>
          <a:prstGeom prst="rect">
            <a:avLst/>
          </a:prstGeom>
        </p:spPr>
        <p:txBody>
          <a:bodyPr anchor="t" rtlCol="false" tIns="0" lIns="0" bIns="0" rIns="0">
            <a:spAutoFit/>
          </a:bodyPr>
          <a:lstStyle/>
          <a:p>
            <a:pPr algn="l">
              <a:lnSpc>
                <a:spcPts val="3356"/>
              </a:lnSpc>
            </a:pPr>
            <a:r>
              <a:rPr lang="en-US" b="true" sz="2397" spc="2">
                <a:solidFill>
                  <a:srgbClr val="000000"/>
                </a:solidFill>
                <a:latin typeface="Times New Roman Bold"/>
                <a:ea typeface="Times New Roman Bold"/>
                <a:cs typeface="Times New Roman Bold"/>
                <a:sym typeface="Times New Roman Bold"/>
              </a:rPr>
              <a:t>Journal Name / </a:t>
            </a:r>
          </a:p>
        </p:txBody>
      </p:sp>
      <p:sp>
        <p:nvSpPr>
          <p:cNvPr name="TextBox 6" id="6"/>
          <p:cNvSpPr txBox="true"/>
          <p:nvPr/>
        </p:nvSpPr>
        <p:spPr>
          <a:xfrm rot="0">
            <a:off x="2336678" y="2972343"/>
            <a:ext cx="1476470"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Paper Title</a:t>
            </a:r>
          </a:p>
        </p:txBody>
      </p:sp>
      <p:sp>
        <p:nvSpPr>
          <p:cNvPr name="TextBox 7" id="7"/>
          <p:cNvSpPr txBox="true"/>
          <p:nvPr/>
        </p:nvSpPr>
        <p:spPr>
          <a:xfrm rot="0">
            <a:off x="4562856" y="2470756"/>
            <a:ext cx="1878706" cy="1099418"/>
          </a:xfrm>
          <a:prstGeom prst="rect">
            <a:avLst/>
          </a:prstGeom>
        </p:spPr>
        <p:txBody>
          <a:bodyPr anchor="t" rtlCol="false" tIns="0" lIns="0" bIns="0" rIns="0">
            <a:spAutoFit/>
          </a:bodyPr>
          <a:lstStyle/>
          <a:p>
            <a:pPr algn="ctr">
              <a:lnSpc>
                <a:spcPts val="2877"/>
              </a:lnSpc>
            </a:pPr>
            <a:r>
              <a:rPr lang="en-US" b="true" sz="2394">
                <a:solidFill>
                  <a:srgbClr val="000000"/>
                </a:solidFill>
                <a:latin typeface="Times New Roman Bold"/>
                <a:ea typeface="Times New Roman Bold"/>
                <a:cs typeface="Times New Roman Bold"/>
                <a:sym typeface="Times New Roman Bold"/>
              </a:rPr>
              <a:t>Year of publication, Vol No., Issue </a:t>
            </a:r>
          </a:p>
        </p:txBody>
      </p:sp>
      <p:sp>
        <p:nvSpPr>
          <p:cNvPr name="TextBox 8" id="8"/>
          <p:cNvSpPr txBox="true"/>
          <p:nvPr/>
        </p:nvSpPr>
        <p:spPr>
          <a:xfrm rot="0">
            <a:off x="4962906" y="3568608"/>
            <a:ext cx="988966" cy="367327"/>
          </a:xfrm>
          <a:prstGeom prst="rect">
            <a:avLst/>
          </a:prstGeom>
        </p:spPr>
        <p:txBody>
          <a:bodyPr anchor="t" rtlCol="false" tIns="0" lIns="0" bIns="0" rIns="0">
            <a:spAutoFit/>
          </a:bodyPr>
          <a:lstStyle/>
          <a:p>
            <a:pPr algn="l">
              <a:lnSpc>
                <a:spcPts val="2877"/>
              </a:lnSpc>
            </a:pPr>
            <a:r>
              <a:rPr lang="en-US" b="true" sz="2394">
                <a:solidFill>
                  <a:srgbClr val="000000"/>
                </a:solidFill>
                <a:latin typeface="Times New Roman Bold"/>
                <a:ea typeface="Times New Roman Bold"/>
                <a:cs typeface="Times New Roman Bold"/>
                <a:sym typeface="Times New Roman Bold"/>
              </a:rPr>
              <a:t>No., PP</a:t>
            </a:r>
          </a:p>
        </p:txBody>
      </p:sp>
      <p:sp>
        <p:nvSpPr>
          <p:cNvPr name="TextBox 9" id="9"/>
          <p:cNvSpPr txBox="true"/>
          <p:nvPr/>
        </p:nvSpPr>
        <p:spPr>
          <a:xfrm rot="0">
            <a:off x="7341303" y="2972343"/>
            <a:ext cx="1085421"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Authors</a:t>
            </a:r>
          </a:p>
        </p:txBody>
      </p:sp>
      <p:sp>
        <p:nvSpPr>
          <p:cNvPr name="TextBox 10" id="10"/>
          <p:cNvSpPr txBox="true"/>
          <p:nvPr/>
        </p:nvSpPr>
        <p:spPr>
          <a:xfrm rot="0">
            <a:off x="10074402" y="2972343"/>
            <a:ext cx="1744104" cy="414952"/>
          </a:xfrm>
          <a:prstGeom prst="rect">
            <a:avLst/>
          </a:prstGeom>
        </p:spPr>
        <p:txBody>
          <a:bodyPr anchor="t" rtlCol="false" tIns="0" lIns="0" bIns="0" rIns="0">
            <a:spAutoFit/>
          </a:bodyPr>
          <a:lstStyle/>
          <a:p>
            <a:pPr algn="l">
              <a:lnSpc>
                <a:spcPts val="3351"/>
              </a:lnSpc>
            </a:pPr>
            <a:r>
              <a:rPr lang="en-US" b="true" sz="2394" spc="2">
                <a:solidFill>
                  <a:srgbClr val="000000"/>
                </a:solidFill>
                <a:latin typeface="Times New Roman Bold"/>
                <a:ea typeface="Times New Roman Bold"/>
                <a:cs typeface="Times New Roman Bold"/>
                <a:sym typeface="Times New Roman Bold"/>
              </a:rPr>
              <a:t>Methodology</a:t>
            </a:r>
          </a:p>
        </p:txBody>
      </p:sp>
      <p:sp>
        <p:nvSpPr>
          <p:cNvPr name="TextBox 11" id="11"/>
          <p:cNvSpPr txBox="true"/>
          <p:nvPr/>
        </p:nvSpPr>
        <p:spPr>
          <a:xfrm rot="0">
            <a:off x="13993563" y="2972343"/>
            <a:ext cx="2170214"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Merits/Demerits</a:t>
            </a:r>
          </a:p>
        </p:txBody>
      </p:sp>
      <p:sp>
        <p:nvSpPr>
          <p:cNvPr name="TextBox 12" id="12"/>
          <p:cNvSpPr txBox="true"/>
          <p:nvPr/>
        </p:nvSpPr>
        <p:spPr>
          <a:xfrm rot="0">
            <a:off x="1242670" y="4243564"/>
            <a:ext cx="262318" cy="470225"/>
          </a:xfrm>
          <a:prstGeom prst="rect">
            <a:avLst/>
          </a:prstGeom>
        </p:spPr>
        <p:txBody>
          <a:bodyPr anchor="t" rtlCol="false" tIns="0" lIns="0" bIns="0" rIns="0">
            <a:spAutoFit/>
          </a:bodyPr>
          <a:lstStyle/>
          <a:p>
            <a:pPr algn="l">
              <a:lnSpc>
                <a:spcPts val="3779"/>
              </a:lnSpc>
            </a:pPr>
            <a:r>
              <a:rPr lang="en-US" sz="2700">
                <a:solidFill>
                  <a:srgbClr val="000000"/>
                </a:solidFill>
                <a:latin typeface="Times New Roman"/>
                <a:ea typeface="Times New Roman"/>
                <a:cs typeface="Times New Roman"/>
                <a:sym typeface="Times New Roman"/>
              </a:rPr>
              <a:t>1.</a:t>
            </a:r>
          </a:p>
        </p:txBody>
      </p:sp>
      <p:sp>
        <p:nvSpPr>
          <p:cNvPr name="TextBox 13" id="13"/>
          <p:cNvSpPr txBox="true"/>
          <p:nvPr/>
        </p:nvSpPr>
        <p:spPr>
          <a:xfrm rot="0">
            <a:off x="2025396" y="4291189"/>
            <a:ext cx="1449167" cy="124556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Plant Disease Detection </a:t>
            </a:r>
          </a:p>
        </p:txBody>
      </p:sp>
      <p:sp>
        <p:nvSpPr>
          <p:cNvPr name="TextBox 14" id="14"/>
          <p:cNvSpPr txBox="true"/>
          <p:nvPr/>
        </p:nvSpPr>
        <p:spPr>
          <a:xfrm rot="0">
            <a:off x="3470148" y="4291189"/>
            <a:ext cx="726719" cy="42260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Leaf </a:t>
            </a:r>
          </a:p>
        </p:txBody>
      </p:sp>
      <p:sp>
        <p:nvSpPr>
          <p:cNvPr name="TextBox 15" id="15"/>
          <p:cNvSpPr txBox="true"/>
          <p:nvPr/>
        </p:nvSpPr>
        <p:spPr>
          <a:xfrm rot="0">
            <a:off x="2025396" y="5526014"/>
            <a:ext cx="1353569" cy="83408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Using Learning.</a:t>
            </a:r>
          </a:p>
        </p:txBody>
      </p:sp>
      <p:sp>
        <p:nvSpPr>
          <p:cNvPr name="TextBox 16" id="16"/>
          <p:cNvSpPr txBox="true"/>
          <p:nvPr/>
        </p:nvSpPr>
        <p:spPr>
          <a:xfrm rot="0">
            <a:off x="3374136" y="5526014"/>
            <a:ext cx="824646" cy="42260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Deep </a:t>
            </a:r>
          </a:p>
        </p:txBody>
      </p:sp>
      <p:sp>
        <p:nvSpPr>
          <p:cNvPr name="TextBox 17" id="17"/>
          <p:cNvSpPr txBox="true"/>
          <p:nvPr/>
        </p:nvSpPr>
        <p:spPr>
          <a:xfrm rot="0">
            <a:off x="4463601" y="4266424"/>
            <a:ext cx="699516" cy="470225"/>
          </a:xfrm>
          <a:prstGeom prst="rect">
            <a:avLst/>
          </a:prstGeom>
        </p:spPr>
        <p:txBody>
          <a:bodyPr anchor="t" rtlCol="false" tIns="0" lIns="0" bIns="0" rIns="0">
            <a:spAutoFit/>
          </a:bodyPr>
          <a:lstStyle/>
          <a:p>
            <a:pPr algn="l">
              <a:lnSpc>
                <a:spcPts val="3779"/>
              </a:lnSpc>
            </a:pPr>
            <a:r>
              <a:rPr lang="en-US" sz="2700">
                <a:solidFill>
                  <a:srgbClr val="000000"/>
                </a:solidFill>
                <a:latin typeface="Times New Roman"/>
                <a:ea typeface="Times New Roman"/>
                <a:cs typeface="Times New Roman"/>
                <a:sym typeface="Times New Roman"/>
              </a:rPr>
              <a:t>2024</a:t>
            </a:r>
          </a:p>
        </p:txBody>
      </p:sp>
      <p:sp>
        <p:nvSpPr>
          <p:cNvPr name="TextBox 18" id="18"/>
          <p:cNvSpPr txBox="true"/>
          <p:nvPr/>
        </p:nvSpPr>
        <p:spPr>
          <a:xfrm rot="0">
            <a:off x="6798564" y="4266424"/>
            <a:ext cx="1370271" cy="1890203"/>
          </a:xfrm>
          <a:prstGeom prst="rect">
            <a:avLst/>
          </a:prstGeom>
        </p:spPr>
        <p:txBody>
          <a:bodyPr anchor="t" rtlCol="false" tIns="0" lIns="0" bIns="0" rIns="0">
            <a:spAutoFit/>
          </a:bodyPr>
          <a:lstStyle/>
          <a:p>
            <a:pPr algn="l">
              <a:lnSpc>
                <a:spcPts val="3726"/>
              </a:lnSpc>
            </a:pPr>
            <a:r>
              <a:rPr lang="en-US" b="true" sz="2700" i="true">
                <a:solidFill>
                  <a:srgbClr val="000000"/>
                </a:solidFill>
                <a:latin typeface="Times New Roman Bold Italics"/>
                <a:ea typeface="Times New Roman Bold Italics"/>
                <a:cs typeface="Times New Roman Bold Italics"/>
                <a:sym typeface="Times New Roman Bold Italics"/>
              </a:rPr>
              <a:t>Author:</a:t>
            </a:r>
            <a:r>
              <a:rPr lang="en-US" sz="2700">
                <a:solidFill>
                  <a:srgbClr val="000000"/>
                </a:solidFill>
                <a:latin typeface="Times New Roman"/>
                <a:ea typeface="Times New Roman"/>
                <a:cs typeface="Times New Roman"/>
                <a:sym typeface="Times New Roman"/>
              </a:rPr>
              <a:t> Abu Laskar </a:t>
            </a:r>
          </a:p>
          <a:p>
            <a:pPr algn="l">
              <a:lnSpc>
                <a:spcPts val="1925"/>
              </a:lnSpc>
            </a:pPr>
            <a:r>
              <a:rPr lang="en-US" b="true" sz="2700" i="true">
                <a:solidFill>
                  <a:srgbClr val="000000"/>
                </a:solidFill>
                <a:latin typeface="Times New Roman Bold Italics"/>
                <a:ea typeface="Times New Roman Bold Italics"/>
                <a:cs typeface="Times New Roman Bold Italics"/>
                <a:sym typeface="Times New Roman Bold Italics"/>
              </a:rPr>
              <a:t>Journal:</a:t>
            </a:r>
            <a:r>
              <a:rPr lang="en-US" sz="2700">
                <a:solidFill>
                  <a:srgbClr val="000000"/>
                </a:solidFill>
                <a:latin typeface="Times New Roman"/>
                <a:ea typeface="Times New Roman"/>
                <a:cs typeface="Times New Roman"/>
                <a:sym typeface="Times New Roman"/>
              </a:rPr>
              <a:t> </a:t>
            </a:r>
          </a:p>
        </p:txBody>
      </p:sp>
      <p:sp>
        <p:nvSpPr>
          <p:cNvPr name="TextBox 19" id="19"/>
          <p:cNvSpPr txBox="true"/>
          <p:nvPr/>
        </p:nvSpPr>
        <p:spPr>
          <a:xfrm rot="0">
            <a:off x="8472302" y="4243564"/>
            <a:ext cx="5637590" cy="493085"/>
          </a:xfrm>
          <a:prstGeom prst="rect">
            <a:avLst/>
          </a:prstGeom>
        </p:spPr>
        <p:txBody>
          <a:bodyPr anchor="t" rtlCol="false" tIns="0" lIns="0" bIns="0" rIns="0">
            <a:spAutoFit/>
          </a:bodyPr>
          <a:lstStyle/>
          <a:p>
            <a:pPr algn="l">
              <a:lnSpc>
                <a:spcPts val="3726"/>
              </a:lnSpc>
            </a:pPr>
            <a:r>
              <a:rPr lang="en-US" sz="2700">
                <a:solidFill>
                  <a:srgbClr val="000000"/>
                </a:solidFill>
                <a:latin typeface="Times New Roman"/>
                <a:ea typeface="Times New Roman"/>
                <a:cs typeface="Times New Roman"/>
                <a:sym typeface="Times New Roman"/>
              </a:rPr>
              <a:t>Md Deep learning model </a:t>
            </a:r>
            <a:r>
              <a:rPr lang="en-US" b="true" sz="2700" i="true">
                <a:solidFill>
                  <a:srgbClr val="000000"/>
                </a:solidFill>
                <a:latin typeface="Times New Roman Bold Italics"/>
                <a:ea typeface="Times New Roman Bold Italics"/>
                <a:cs typeface="Times New Roman Bold Italics"/>
                <a:sym typeface="Times New Roman Bold Italics"/>
              </a:rPr>
              <a:t>Merits:</a:t>
            </a:r>
          </a:p>
        </p:txBody>
      </p:sp>
      <p:sp>
        <p:nvSpPr>
          <p:cNvPr name="TextBox 20" id="20"/>
          <p:cNvSpPr txBox="true"/>
          <p:nvPr/>
        </p:nvSpPr>
        <p:spPr>
          <a:xfrm rot="0">
            <a:off x="8129402" y="4739626"/>
            <a:ext cx="924530" cy="470225"/>
          </a:xfrm>
          <a:prstGeom prst="rect">
            <a:avLst/>
          </a:prstGeom>
        </p:spPr>
        <p:txBody>
          <a:bodyPr anchor="t" rtlCol="false" tIns="0" lIns="0" bIns="0" rIns="0">
            <a:spAutoFit/>
          </a:bodyPr>
          <a:lstStyle/>
          <a:p>
            <a:pPr algn="l">
              <a:lnSpc>
                <a:spcPts val="3726"/>
              </a:lnSpc>
            </a:pPr>
            <a:r>
              <a:rPr lang="en-US" sz="2700">
                <a:solidFill>
                  <a:srgbClr val="000000"/>
                </a:solidFill>
                <a:latin typeface="Times New Roman"/>
                <a:ea typeface="Times New Roman"/>
                <a:cs typeface="Times New Roman"/>
                <a:sym typeface="Times New Roman"/>
              </a:rPr>
              <a:t>Bakar </a:t>
            </a:r>
          </a:p>
        </p:txBody>
      </p:sp>
      <p:sp>
        <p:nvSpPr>
          <p:cNvPr name="TextBox 21" id="21"/>
          <p:cNvSpPr txBox="true"/>
          <p:nvPr/>
        </p:nvSpPr>
        <p:spPr>
          <a:xfrm rot="0">
            <a:off x="9316407" y="4655044"/>
            <a:ext cx="3377879" cy="881705"/>
          </a:xfrm>
          <a:prstGeom prst="rect">
            <a:avLst/>
          </a:prstGeom>
        </p:spPr>
        <p:txBody>
          <a:bodyPr anchor="t" rtlCol="false" tIns="0" lIns="0" bIns="0" rIns="0">
            <a:spAutoFit/>
          </a:bodyPr>
          <a:lstStyle/>
          <a:p>
            <a:pPr algn="l">
              <a:lnSpc>
                <a:spcPts val="3726"/>
              </a:lnSpc>
            </a:pPr>
            <a:r>
              <a:rPr lang="en-US" sz="2700">
                <a:solidFill>
                  <a:srgbClr val="000000"/>
                </a:solidFill>
                <a:latin typeface="Times New Roman"/>
                <a:ea typeface="Times New Roman"/>
                <a:cs typeface="Times New Roman"/>
                <a:sym typeface="Times New Roman"/>
              </a:rPr>
              <a:t>(YOLO-based detection) is used to </a:t>
            </a:r>
          </a:p>
        </p:txBody>
      </p:sp>
      <p:sp>
        <p:nvSpPr>
          <p:cNvPr name="TextBox 22" id="22"/>
          <p:cNvSpPr txBox="true"/>
          <p:nvPr/>
        </p:nvSpPr>
        <p:spPr>
          <a:xfrm rot="0">
            <a:off x="12911328" y="4655044"/>
            <a:ext cx="3637497" cy="881705"/>
          </a:xfrm>
          <a:prstGeom prst="rect">
            <a:avLst/>
          </a:prstGeom>
        </p:spPr>
        <p:txBody>
          <a:bodyPr anchor="t" rtlCol="false" tIns="0" lIns="0" bIns="0" rIns="0">
            <a:spAutoFit/>
          </a:bodyPr>
          <a:lstStyle/>
          <a:p>
            <a:pPr algn="l">
              <a:lnSpc>
                <a:spcPts val="3726"/>
              </a:lnSpc>
            </a:pPr>
            <a:r>
              <a:rPr lang="en-US" sz="2700">
                <a:solidFill>
                  <a:srgbClr val="000000"/>
                </a:solidFill>
                <a:latin typeface="Times New Roman"/>
                <a:ea typeface="Times New Roman"/>
                <a:cs typeface="Times New Roman"/>
                <a:sym typeface="Times New Roman"/>
              </a:rPr>
              <a:t>High detection accuracy Fast disease identification</a:t>
            </a:r>
          </a:p>
        </p:txBody>
      </p:sp>
      <p:sp>
        <p:nvSpPr>
          <p:cNvPr name="TextBox 23" id="23"/>
          <p:cNvSpPr txBox="true"/>
          <p:nvPr/>
        </p:nvSpPr>
        <p:spPr>
          <a:xfrm rot="0">
            <a:off x="8051678" y="5212413"/>
            <a:ext cx="339385" cy="470754"/>
          </a:xfrm>
          <a:prstGeom prst="rect">
            <a:avLst/>
          </a:prstGeom>
        </p:spPr>
        <p:txBody>
          <a:bodyPr anchor="t" rtlCol="false" tIns="0" lIns="0" bIns="0" rIns="0">
            <a:spAutoFit/>
          </a:bodyPr>
          <a:lstStyle/>
          <a:p>
            <a:pPr algn="l">
              <a:lnSpc>
                <a:spcPts val="3730"/>
              </a:lnSpc>
            </a:pPr>
            <a:r>
              <a:rPr lang="en-US" sz="2703">
                <a:solidFill>
                  <a:srgbClr val="000000"/>
                </a:solidFill>
                <a:latin typeface="Times New Roman"/>
                <a:ea typeface="Times New Roman"/>
                <a:cs typeface="Times New Roman"/>
                <a:sym typeface="Times New Roman"/>
              </a:rPr>
              <a:t>et </a:t>
            </a:r>
          </a:p>
        </p:txBody>
      </p:sp>
      <p:sp>
        <p:nvSpPr>
          <p:cNvPr name="TextBox 24" id="24"/>
          <p:cNvSpPr txBox="true"/>
          <p:nvPr/>
        </p:nvSpPr>
        <p:spPr>
          <a:xfrm rot="0">
            <a:off x="8511164" y="5212413"/>
            <a:ext cx="535124" cy="944242"/>
          </a:xfrm>
          <a:prstGeom prst="rect">
            <a:avLst/>
          </a:prstGeom>
        </p:spPr>
        <p:txBody>
          <a:bodyPr anchor="t" rtlCol="false" tIns="0" lIns="0" bIns="0" rIns="0">
            <a:spAutoFit/>
          </a:bodyPr>
          <a:lstStyle/>
          <a:p>
            <a:pPr algn="ctr">
              <a:lnSpc>
                <a:spcPts val="3730"/>
              </a:lnSpc>
            </a:pPr>
            <a:r>
              <a:rPr lang="en-US" sz="2703">
                <a:solidFill>
                  <a:srgbClr val="000000"/>
                </a:solidFill>
                <a:latin typeface="Times New Roman"/>
                <a:ea typeface="Times New Roman"/>
                <a:cs typeface="Times New Roman"/>
                <a:sym typeface="Times New Roman"/>
              </a:rPr>
              <a:t>al.</a:t>
            </a:r>
          </a:p>
          <a:p>
            <a:pPr algn="ctr">
              <a:lnSpc>
                <a:spcPts val="1925"/>
              </a:lnSpc>
            </a:pPr>
            <a:r>
              <a:rPr lang="en-US" sz="2700">
                <a:solidFill>
                  <a:srgbClr val="000000"/>
                </a:solidFill>
                <a:latin typeface="Times New Roman"/>
                <a:ea typeface="Times New Roman"/>
                <a:cs typeface="Times New Roman"/>
                <a:sym typeface="Times New Roman"/>
              </a:rPr>
              <a:t>LC </a:t>
            </a:r>
          </a:p>
        </p:txBody>
      </p:sp>
      <p:sp>
        <p:nvSpPr>
          <p:cNvPr name="TextBox 25" id="25"/>
          <p:cNvSpPr txBox="true"/>
          <p:nvPr/>
        </p:nvSpPr>
        <p:spPr>
          <a:xfrm rot="0">
            <a:off x="9316407" y="5706989"/>
            <a:ext cx="5145257" cy="241625"/>
          </a:xfrm>
          <a:prstGeom prst="rect">
            <a:avLst/>
          </a:prstGeom>
        </p:spPr>
        <p:txBody>
          <a:bodyPr anchor="t" rtlCol="false" tIns="0" lIns="0" bIns="0" rIns="0">
            <a:spAutoFit/>
          </a:bodyPr>
          <a:lstStyle/>
          <a:p>
            <a:pPr algn="l">
              <a:lnSpc>
                <a:spcPts val="1350"/>
              </a:lnSpc>
            </a:pPr>
            <a:r>
              <a:rPr lang="en-US" sz="2700">
                <a:solidFill>
                  <a:srgbClr val="000000"/>
                </a:solidFill>
                <a:latin typeface="Times New Roman"/>
                <a:ea typeface="Times New Roman"/>
                <a:cs typeface="Times New Roman"/>
                <a:sym typeface="Times New Roman"/>
              </a:rPr>
              <a:t>identify diseases from </a:t>
            </a:r>
            <a:r>
              <a:rPr lang="en-US" b="true" sz="2700" i="true">
                <a:solidFill>
                  <a:srgbClr val="000000"/>
                </a:solidFill>
                <a:latin typeface="Times New Roman Bold Italics"/>
                <a:ea typeface="Times New Roman Bold Italics"/>
                <a:cs typeface="Times New Roman Bold Italics"/>
                <a:sym typeface="Times New Roman Bold Italics"/>
              </a:rPr>
              <a:t>Demerits:</a:t>
            </a:r>
          </a:p>
        </p:txBody>
      </p:sp>
      <p:sp>
        <p:nvSpPr>
          <p:cNvPr name="TextBox 26" id="26"/>
          <p:cNvSpPr txBox="true"/>
          <p:nvPr/>
        </p:nvSpPr>
        <p:spPr>
          <a:xfrm rot="0">
            <a:off x="9316407" y="6118469"/>
            <a:ext cx="3377879" cy="1064585"/>
          </a:xfrm>
          <a:prstGeom prst="rect">
            <a:avLst/>
          </a:prstGeom>
        </p:spPr>
        <p:txBody>
          <a:bodyPr anchor="t" rtlCol="false" tIns="0" lIns="0" bIns="0" rIns="0">
            <a:spAutoFit/>
          </a:bodyPr>
          <a:lstStyle/>
          <a:p>
            <a:pPr algn="just">
              <a:lnSpc>
                <a:spcPts val="1350"/>
              </a:lnSpc>
            </a:pPr>
            <a:r>
              <a:rPr lang="en-US" sz="2700">
                <a:solidFill>
                  <a:srgbClr val="000000"/>
                </a:solidFill>
                <a:latin typeface="Times New Roman"/>
                <a:ea typeface="Times New Roman"/>
                <a:cs typeface="Times New Roman"/>
                <a:sym typeface="Times New Roman"/>
              </a:rPr>
              <a:t>leaf extracting features and </a:t>
            </a:r>
          </a:p>
          <a:p>
            <a:pPr algn="just">
              <a:lnSpc>
                <a:spcPts val="5130"/>
              </a:lnSpc>
            </a:pPr>
            <a:r>
              <a:rPr lang="en-US" sz="2700">
                <a:solidFill>
                  <a:srgbClr val="000000"/>
                </a:solidFill>
                <a:latin typeface="Times New Roman"/>
                <a:ea typeface="Times New Roman"/>
                <a:cs typeface="Times New Roman"/>
                <a:sym typeface="Times New Roman"/>
              </a:rPr>
              <a:t>them </a:t>
            </a:r>
          </a:p>
        </p:txBody>
      </p:sp>
      <p:sp>
        <p:nvSpPr>
          <p:cNvPr name="TextBox 27" id="27"/>
          <p:cNvSpPr txBox="true"/>
          <p:nvPr/>
        </p:nvSpPr>
        <p:spPr>
          <a:xfrm rot="0">
            <a:off x="10530645" y="6118469"/>
            <a:ext cx="1078420" cy="241625"/>
          </a:xfrm>
          <a:prstGeom prst="rect">
            <a:avLst/>
          </a:prstGeom>
        </p:spPr>
        <p:txBody>
          <a:bodyPr anchor="t" rtlCol="false" tIns="0" lIns="0" bIns="0" rIns="0">
            <a:spAutoFit/>
          </a:bodyPr>
          <a:lstStyle/>
          <a:p>
            <a:pPr algn="l">
              <a:lnSpc>
                <a:spcPts val="1350"/>
              </a:lnSpc>
            </a:pPr>
            <a:r>
              <a:rPr lang="en-US" sz="2700">
                <a:solidFill>
                  <a:srgbClr val="000000"/>
                </a:solidFill>
                <a:latin typeface="Times New Roman"/>
                <a:ea typeface="Times New Roman"/>
                <a:cs typeface="Times New Roman"/>
                <a:sym typeface="Times New Roman"/>
              </a:rPr>
              <a:t>images </a:t>
            </a:r>
          </a:p>
        </p:txBody>
      </p:sp>
      <p:sp>
        <p:nvSpPr>
          <p:cNvPr name="TextBox 28" id="28"/>
          <p:cNvSpPr txBox="true"/>
          <p:nvPr/>
        </p:nvSpPr>
        <p:spPr>
          <a:xfrm rot="0">
            <a:off x="12199425" y="6118469"/>
            <a:ext cx="437198" cy="241625"/>
          </a:xfrm>
          <a:prstGeom prst="rect">
            <a:avLst/>
          </a:prstGeom>
        </p:spPr>
        <p:txBody>
          <a:bodyPr anchor="t" rtlCol="false" tIns="0" lIns="0" bIns="0" rIns="0">
            <a:spAutoFit/>
          </a:bodyPr>
          <a:lstStyle/>
          <a:p>
            <a:pPr algn="r">
              <a:lnSpc>
                <a:spcPts val="1350"/>
              </a:lnSpc>
            </a:pPr>
            <a:r>
              <a:rPr lang="en-US" sz="2700">
                <a:solidFill>
                  <a:srgbClr val="000000"/>
                </a:solidFill>
                <a:latin typeface="Times New Roman"/>
                <a:ea typeface="Times New Roman"/>
                <a:cs typeface="Times New Roman"/>
                <a:sym typeface="Times New Roman"/>
              </a:rPr>
              <a:t>by </a:t>
            </a:r>
          </a:p>
        </p:txBody>
      </p:sp>
      <p:sp>
        <p:nvSpPr>
          <p:cNvPr name="TextBox 29" id="29"/>
          <p:cNvSpPr txBox="true"/>
          <p:nvPr/>
        </p:nvSpPr>
        <p:spPr>
          <a:xfrm rot="0">
            <a:off x="12911328" y="6118469"/>
            <a:ext cx="4259704" cy="653105"/>
          </a:xfrm>
          <a:prstGeom prst="rect">
            <a:avLst/>
          </a:prstGeom>
        </p:spPr>
        <p:txBody>
          <a:bodyPr anchor="t" rtlCol="false" tIns="0" lIns="0" bIns="0" rIns="0">
            <a:spAutoFit/>
          </a:bodyPr>
          <a:lstStyle/>
          <a:p>
            <a:pPr algn="l">
              <a:lnSpc>
                <a:spcPts val="1350"/>
              </a:lnSpc>
            </a:pPr>
            <a:r>
              <a:rPr lang="en-US" sz="2700">
                <a:solidFill>
                  <a:srgbClr val="000000"/>
                </a:solidFill>
                <a:latin typeface="Times New Roman"/>
                <a:ea typeface="Times New Roman"/>
                <a:cs typeface="Times New Roman"/>
                <a:sym typeface="Times New Roman"/>
              </a:rPr>
              <a:t>Requires large training dataset Needs high processing power</a:t>
            </a:r>
          </a:p>
        </p:txBody>
      </p:sp>
      <p:sp>
        <p:nvSpPr>
          <p:cNvPr name="TextBox 30" id="30"/>
          <p:cNvSpPr txBox="true"/>
          <p:nvPr/>
        </p:nvSpPr>
        <p:spPr>
          <a:xfrm rot="0">
            <a:off x="6798564" y="6245342"/>
            <a:ext cx="1876263" cy="1349192"/>
          </a:xfrm>
          <a:prstGeom prst="rect">
            <a:avLst/>
          </a:prstGeom>
        </p:spPr>
        <p:txBody>
          <a:bodyPr anchor="t" rtlCol="false" tIns="0" lIns="0" bIns="0" rIns="0">
            <a:spAutoFit/>
          </a:bodyPr>
          <a:lstStyle/>
          <a:p>
            <a:pPr algn="l">
              <a:lnSpc>
                <a:spcPts val="2897"/>
              </a:lnSpc>
            </a:pPr>
            <a:r>
              <a:rPr lang="en-US" sz="2700">
                <a:solidFill>
                  <a:srgbClr val="000000"/>
                </a:solidFill>
                <a:latin typeface="Times New Roman"/>
                <a:ea typeface="Times New Roman"/>
                <a:cs typeface="Times New Roman"/>
                <a:sym typeface="Times New Roman"/>
              </a:rPr>
              <a:t>International </a:t>
            </a:r>
          </a:p>
          <a:p>
            <a:pPr algn="l">
              <a:lnSpc>
                <a:spcPts val="5130"/>
              </a:lnSpc>
            </a:pPr>
            <a:r>
              <a:rPr lang="en-US" sz="2700">
                <a:solidFill>
                  <a:srgbClr val="000000"/>
                </a:solidFill>
                <a:latin typeface="Times New Roman"/>
                <a:ea typeface="Times New Roman"/>
                <a:cs typeface="Times New Roman"/>
                <a:sym typeface="Times New Roman"/>
              </a:rPr>
              <a:t>Journal </a:t>
            </a:r>
          </a:p>
          <a:p>
            <a:pPr algn="l">
              <a:lnSpc>
                <a:spcPts val="1350"/>
              </a:lnSpc>
            </a:pPr>
            <a:r>
              <a:rPr lang="en-US" sz="2700">
                <a:solidFill>
                  <a:srgbClr val="000000"/>
                </a:solidFill>
                <a:latin typeface="Times New Roman"/>
                <a:ea typeface="Times New Roman"/>
                <a:cs typeface="Times New Roman"/>
                <a:sym typeface="Times New Roman"/>
              </a:rPr>
              <a:t>STEM</a:t>
            </a:r>
            <a:r>
              <a:rPr lang="en-US" sz="2700">
                <a:solidFill>
                  <a:srgbClr val="000000"/>
                </a:solidFill>
                <a:latin typeface="Times New Roman"/>
                <a:ea typeface="Times New Roman"/>
                <a:cs typeface="Times New Roman"/>
                <a:sym typeface="Times New Roman"/>
              </a:rPr>
              <a:t> </a:t>
            </a:r>
          </a:p>
        </p:txBody>
      </p:sp>
      <p:sp>
        <p:nvSpPr>
          <p:cNvPr name="TextBox 31" id="31"/>
          <p:cNvSpPr txBox="true"/>
          <p:nvPr/>
        </p:nvSpPr>
        <p:spPr>
          <a:xfrm rot="0">
            <a:off x="8664326" y="6499469"/>
            <a:ext cx="378904" cy="603575"/>
          </a:xfrm>
          <a:prstGeom prst="rect">
            <a:avLst/>
          </a:prstGeom>
        </p:spPr>
        <p:txBody>
          <a:bodyPr anchor="t" rtlCol="false" tIns="0" lIns="0" bIns="0" rIns="0">
            <a:spAutoFit/>
          </a:bodyPr>
          <a:lstStyle/>
          <a:p>
            <a:pPr algn="l">
              <a:lnSpc>
                <a:spcPts val="5130"/>
              </a:lnSpc>
            </a:pPr>
            <a:r>
              <a:rPr lang="en-US" sz="2700">
                <a:solidFill>
                  <a:srgbClr val="000000"/>
                </a:solidFill>
                <a:latin typeface="Times New Roman"/>
                <a:ea typeface="Times New Roman"/>
                <a:cs typeface="Times New Roman"/>
                <a:sym typeface="Times New Roman"/>
              </a:rPr>
              <a:t>of </a:t>
            </a:r>
          </a:p>
        </p:txBody>
      </p:sp>
      <p:sp>
        <p:nvSpPr>
          <p:cNvPr name="TextBox 32" id="32"/>
          <p:cNvSpPr txBox="true"/>
          <p:nvPr/>
        </p:nvSpPr>
        <p:spPr>
          <a:xfrm rot="0">
            <a:off x="9316407" y="6579479"/>
            <a:ext cx="1976518" cy="1015055"/>
          </a:xfrm>
          <a:prstGeom prst="rect">
            <a:avLst/>
          </a:prstGeom>
        </p:spPr>
        <p:txBody>
          <a:bodyPr anchor="t" rtlCol="false" tIns="0" lIns="0" bIns="0" rIns="0">
            <a:spAutoFit/>
          </a:bodyPr>
          <a:lstStyle/>
          <a:p>
            <a:pPr algn="l">
              <a:lnSpc>
                <a:spcPts val="5130"/>
              </a:lnSpc>
            </a:pPr>
            <a:r>
              <a:rPr lang="en-US" sz="2700">
                <a:solidFill>
                  <a:srgbClr val="000000"/>
                </a:solidFill>
                <a:latin typeface="Times New Roman"/>
                <a:ea typeface="Times New Roman"/>
                <a:cs typeface="Times New Roman"/>
                <a:sym typeface="Times New Roman"/>
              </a:rPr>
              <a:t>classifying </a:t>
            </a:r>
          </a:p>
          <a:p>
            <a:pPr algn="l">
              <a:lnSpc>
                <a:spcPts val="1350"/>
              </a:lnSpc>
            </a:pPr>
            <a:r>
              <a:rPr lang="en-US" sz="2700">
                <a:solidFill>
                  <a:srgbClr val="000000"/>
                </a:solidFill>
                <a:latin typeface="Times New Roman"/>
                <a:ea typeface="Times New Roman"/>
                <a:cs typeface="Times New Roman"/>
                <a:sym typeface="Times New Roman"/>
              </a:rPr>
              <a:t>automatically.</a:t>
            </a:r>
          </a:p>
        </p:txBody>
      </p:sp>
      <p:sp>
        <p:nvSpPr>
          <p:cNvPr name="TextBox 33" id="33"/>
          <p:cNvSpPr txBox="true"/>
          <p:nvPr/>
        </p:nvSpPr>
        <p:spPr>
          <a:xfrm rot="0">
            <a:off x="6249924" y="749298"/>
            <a:ext cx="5908939" cy="722628"/>
          </a:xfrm>
          <a:prstGeom prst="rect">
            <a:avLst/>
          </a:prstGeom>
        </p:spPr>
        <p:txBody>
          <a:bodyPr anchor="t" rtlCol="false" tIns="0" lIns="0" bIns="0" rIns="0">
            <a:spAutoFit/>
          </a:bodyPr>
          <a:lstStyle/>
          <a:p>
            <a:pPr algn="l">
              <a:lnSpc>
                <a:spcPts val="5876"/>
              </a:lnSpc>
            </a:pPr>
            <a:r>
              <a:rPr lang="en-US" b="true" sz="4197">
                <a:solidFill>
                  <a:srgbClr val="000000"/>
                </a:solidFill>
                <a:latin typeface="Times New Roman Bold"/>
                <a:ea typeface="Times New Roman Bold"/>
                <a:cs typeface="Times New Roman Bold"/>
                <a:sym typeface="Times New Roman Bold"/>
              </a:rPr>
              <a:t>LITERATURE</a:t>
            </a:r>
            <a:r>
              <a:rPr lang="en-US" b="true" sz="4197">
                <a:solidFill>
                  <a:srgbClr val="FFFF00"/>
                </a:solidFill>
                <a:latin typeface="Times New Roman Bold"/>
                <a:ea typeface="Times New Roman Bold"/>
                <a:cs typeface="Times New Roman Bold"/>
                <a:sym typeface="Times New Roman Bold"/>
              </a:rPr>
              <a:t> </a:t>
            </a:r>
            <a:r>
              <a:rPr lang="en-US" b="true" sz="4197">
                <a:solidFill>
                  <a:srgbClr val="000000"/>
                </a:solidFill>
                <a:latin typeface="Times New Roman Bold"/>
                <a:ea typeface="Times New Roman Bold"/>
                <a:cs typeface="Times New Roman Bold"/>
                <a:sym typeface="Times New Roman Bold"/>
              </a:rPr>
              <a:t>SURVEY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8206" y="2354394"/>
            <a:ext cx="16591502" cy="6635215"/>
          </a:xfrm>
          <a:custGeom>
            <a:avLst/>
            <a:gdLst/>
            <a:ahLst/>
            <a:cxnLst/>
            <a:rect r="r" b="b" t="t" l="l"/>
            <a:pathLst>
              <a:path h="6635215" w="16591502">
                <a:moveTo>
                  <a:pt x="0" y="0"/>
                </a:moveTo>
                <a:lnTo>
                  <a:pt x="16591502" y="0"/>
                </a:lnTo>
                <a:lnTo>
                  <a:pt x="16591502" y="6635215"/>
                </a:lnTo>
                <a:lnTo>
                  <a:pt x="0" y="66352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776954" y="9622698"/>
            <a:ext cx="118458" cy="339619"/>
          </a:xfrm>
          <a:prstGeom prst="rect">
            <a:avLst/>
          </a:prstGeom>
        </p:spPr>
        <p:txBody>
          <a:bodyPr anchor="t" rtlCol="false" tIns="0" lIns="0" bIns="0" rIns="0">
            <a:spAutoFit/>
          </a:bodyPr>
          <a:lstStyle/>
          <a:p>
            <a:pPr algn="l">
              <a:lnSpc>
                <a:spcPts val="2525"/>
              </a:lnSpc>
            </a:pPr>
            <a:r>
              <a:rPr lang="en-US" sz="1803">
                <a:solidFill>
                  <a:srgbClr val="898989"/>
                </a:solidFill>
                <a:latin typeface="Calibri (MS)"/>
                <a:ea typeface="Calibri (MS)"/>
                <a:cs typeface="Calibri (MS)"/>
                <a:sym typeface="Calibri (MS)"/>
              </a:rPr>
              <a:t>6</a:t>
            </a:r>
          </a:p>
        </p:txBody>
      </p:sp>
      <p:sp>
        <p:nvSpPr>
          <p:cNvPr name="TextBox 4" id="4"/>
          <p:cNvSpPr txBox="true"/>
          <p:nvPr/>
        </p:nvSpPr>
        <p:spPr>
          <a:xfrm rot="0">
            <a:off x="6249924" y="776573"/>
            <a:ext cx="5910467"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LITERATURE SURVEY</a:t>
            </a:r>
          </a:p>
        </p:txBody>
      </p:sp>
      <p:sp>
        <p:nvSpPr>
          <p:cNvPr name="TextBox 5" id="5"/>
          <p:cNvSpPr txBox="true"/>
          <p:nvPr/>
        </p:nvSpPr>
        <p:spPr>
          <a:xfrm rot="0">
            <a:off x="1165860" y="2646407"/>
            <a:ext cx="392778" cy="733087"/>
          </a:xfrm>
          <a:prstGeom prst="rect">
            <a:avLst/>
          </a:prstGeom>
        </p:spPr>
        <p:txBody>
          <a:bodyPr anchor="t" rtlCol="false" tIns="0" lIns="0" bIns="0" rIns="0">
            <a:spAutoFit/>
          </a:bodyPr>
          <a:lstStyle/>
          <a:p>
            <a:pPr algn="r">
              <a:lnSpc>
                <a:spcPts val="2879"/>
              </a:lnSpc>
            </a:pPr>
            <a:r>
              <a:rPr lang="en-US" b="true" sz="2394">
                <a:solidFill>
                  <a:srgbClr val="000000"/>
                </a:solidFill>
                <a:latin typeface="Times New Roman Bold"/>
                <a:ea typeface="Times New Roman Bold"/>
                <a:cs typeface="Times New Roman Bold"/>
                <a:sym typeface="Times New Roman Bold"/>
              </a:rPr>
              <a:t>S. No</a:t>
            </a:r>
          </a:p>
        </p:txBody>
      </p:sp>
      <p:sp>
        <p:nvSpPr>
          <p:cNvPr name="TextBox 6" id="6"/>
          <p:cNvSpPr txBox="true"/>
          <p:nvPr/>
        </p:nvSpPr>
        <p:spPr>
          <a:xfrm rot="0">
            <a:off x="2476124" y="2781662"/>
            <a:ext cx="1476470"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Paper Title</a:t>
            </a:r>
          </a:p>
        </p:txBody>
      </p:sp>
      <p:sp>
        <p:nvSpPr>
          <p:cNvPr name="TextBox 7" id="7"/>
          <p:cNvSpPr txBox="true"/>
          <p:nvPr/>
        </p:nvSpPr>
        <p:spPr>
          <a:xfrm rot="0">
            <a:off x="5057018" y="2781662"/>
            <a:ext cx="3145850" cy="414952"/>
          </a:xfrm>
          <a:prstGeom prst="rect">
            <a:avLst/>
          </a:prstGeom>
        </p:spPr>
        <p:txBody>
          <a:bodyPr anchor="t" rtlCol="false" tIns="0" lIns="0" bIns="0" rIns="0">
            <a:spAutoFit/>
          </a:bodyPr>
          <a:lstStyle/>
          <a:p>
            <a:pPr algn="l">
              <a:lnSpc>
                <a:spcPts val="3351"/>
              </a:lnSpc>
            </a:pPr>
            <a:r>
              <a:rPr lang="en-US" b="true" sz="2394" spc="4">
                <a:solidFill>
                  <a:srgbClr val="000000"/>
                </a:solidFill>
                <a:latin typeface="Times New Roman Bold"/>
                <a:ea typeface="Times New Roman Bold"/>
                <a:cs typeface="Times New Roman Bold"/>
                <a:sym typeface="Times New Roman Bold"/>
              </a:rPr>
              <a:t>Authors &amp; Publications</a:t>
            </a:r>
          </a:p>
        </p:txBody>
      </p:sp>
      <p:sp>
        <p:nvSpPr>
          <p:cNvPr name="TextBox 8" id="8"/>
          <p:cNvSpPr txBox="true"/>
          <p:nvPr/>
        </p:nvSpPr>
        <p:spPr>
          <a:xfrm rot="0">
            <a:off x="9833986" y="2781662"/>
            <a:ext cx="1744104" cy="414952"/>
          </a:xfrm>
          <a:prstGeom prst="rect">
            <a:avLst/>
          </a:prstGeom>
        </p:spPr>
        <p:txBody>
          <a:bodyPr anchor="t" rtlCol="false" tIns="0" lIns="0" bIns="0" rIns="0">
            <a:spAutoFit/>
          </a:bodyPr>
          <a:lstStyle/>
          <a:p>
            <a:pPr algn="l">
              <a:lnSpc>
                <a:spcPts val="3351"/>
              </a:lnSpc>
            </a:pPr>
            <a:r>
              <a:rPr lang="en-US" b="true" sz="2394" spc="2">
                <a:solidFill>
                  <a:srgbClr val="000000"/>
                </a:solidFill>
                <a:latin typeface="Times New Roman Bold"/>
                <a:ea typeface="Times New Roman Bold"/>
                <a:cs typeface="Times New Roman Bold"/>
                <a:sym typeface="Times New Roman Bold"/>
              </a:rPr>
              <a:t>Methodology</a:t>
            </a:r>
          </a:p>
        </p:txBody>
      </p:sp>
      <p:sp>
        <p:nvSpPr>
          <p:cNvPr name="TextBox 9" id="9"/>
          <p:cNvSpPr txBox="true"/>
          <p:nvPr/>
        </p:nvSpPr>
        <p:spPr>
          <a:xfrm rot="0">
            <a:off x="14023281" y="2781662"/>
            <a:ext cx="2170214"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Merits/Demerits</a:t>
            </a:r>
          </a:p>
        </p:txBody>
      </p:sp>
      <p:sp>
        <p:nvSpPr>
          <p:cNvPr name="TextBox 10" id="10"/>
          <p:cNvSpPr txBox="true"/>
          <p:nvPr/>
        </p:nvSpPr>
        <p:spPr>
          <a:xfrm rot="0">
            <a:off x="1207008" y="3668230"/>
            <a:ext cx="293337" cy="535538"/>
          </a:xfrm>
          <a:prstGeom prst="rect">
            <a:avLst/>
          </a:prstGeom>
        </p:spPr>
        <p:txBody>
          <a:bodyPr anchor="t" rtlCol="false" tIns="0" lIns="0" bIns="0" rIns="0">
            <a:spAutoFit/>
          </a:bodyPr>
          <a:lstStyle/>
          <a:p>
            <a:pPr algn="l">
              <a:lnSpc>
                <a:spcPts val="4213"/>
              </a:lnSpc>
            </a:pPr>
            <a:r>
              <a:rPr lang="en-US" sz="3009" spc="6">
                <a:solidFill>
                  <a:srgbClr val="000000"/>
                </a:solidFill>
                <a:latin typeface="Times New Roman"/>
                <a:ea typeface="Times New Roman"/>
                <a:cs typeface="Times New Roman"/>
                <a:sym typeface="Times New Roman"/>
              </a:rPr>
              <a:t>2.</a:t>
            </a:r>
          </a:p>
        </p:txBody>
      </p:sp>
      <p:sp>
        <p:nvSpPr>
          <p:cNvPr name="TextBox 11" id="11"/>
          <p:cNvSpPr txBox="true"/>
          <p:nvPr/>
        </p:nvSpPr>
        <p:spPr>
          <a:xfrm rot="0">
            <a:off x="1933570" y="3668230"/>
            <a:ext cx="2423003" cy="1907424"/>
          </a:xfrm>
          <a:prstGeom prst="rect">
            <a:avLst/>
          </a:prstGeom>
        </p:spPr>
        <p:txBody>
          <a:bodyPr anchor="t" rtlCol="false" tIns="0" lIns="0" bIns="0" rIns="0">
            <a:spAutoFit/>
          </a:bodyPr>
          <a:lstStyle/>
          <a:p>
            <a:pPr algn="l">
              <a:lnSpc>
                <a:spcPts val="4213"/>
              </a:lnSpc>
            </a:pPr>
            <a:r>
              <a:rPr lang="en-US" sz="3009">
                <a:solidFill>
                  <a:srgbClr val="000000"/>
                </a:solidFill>
                <a:latin typeface="Times New Roman"/>
                <a:ea typeface="Times New Roman"/>
                <a:cs typeface="Times New Roman"/>
                <a:sym typeface="Times New Roman"/>
              </a:rPr>
              <a:t>Deep Learning </a:t>
            </a:r>
          </a:p>
          <a:p>
            <a:pPr algn="l">
              <a:lnSpc>
                <a:spcPts val="3601"/>
              </a:lnSpc>
            </a:pPr>
            <a:r>
              <a:rPr lang="en-US" sz="3006">
                <a:solidFill>
                  <a:srgbClr val="000000"/>
                </a:solidFill>
                <a:latin typeface="Times New Roman"/>
                <a:ea typeface="Times New Roman"/>
                <a:cs typeface="Times New Roman"/>
                <a:sym typeface="Times New Roman"/>
              </a:rPr>
              <a:t>for</a:t>
            </a:r>
            <a:r>
              <a:rPr lang="en-US" sz="3006">
                <a:solidFill>
                  <a:srgbClr val="000000"/>
                </a:solidFill>
                <a:latin typeface="Times New Roman"/>
                <a:ea typeface="Times New Roman"/>
                <a:cs typeface="Times New Roman"/>
                <a:sym typeface="Times New Roman"/>
              </a:rPr>
              <a:t> </a:t>
            </a:r>
            <a:r>
              <a:rPr lang="en-US" sz="3006">
                <a:solidFill>
                  <a:srgbClr val="000000"/>
                </a:solidFill>
                <a:latin typeface="Times New Roman"/>
                <a:ea typeface="Times New Roman"/>
                <a:cs typeface="Times New Roman"/>
                <a:sym typeface="Times New Roman"/>
              </a:rPr>
              <a:t>Automated Diagnosis of Plant Diseases</a:t>
            </a:r>
          </a:p>
        </p:txBody>
      </p:sp>
      <p:sp>
        <p:nvSpPr>
          <p:cNvPr name="TextBox 12" id="12"/>
          <p:cNvSpPr txBox="true"/>
          <p:nvPr/>
        </p:nvSpPr>
        <p:spPr>
          <a:xfrm rot="0">
            <a:off x="4834890" y="3782187"/>
            <a:ext cx="782298" cy="449285"/>
          </a:xfrm>
          <a:prstGeom prst="rect">
            <a:avLst/>
          </a:prstGeom>
        </p:spPr>
        <p:txBody>
          <a:bodyPr anchor="t" rtlCol="false" tIns="0" lIns="0" bIns="0" rIns="0">
            <a:spAutoFit/>
          </a:bodyPr>
          <a:lstStyle/>
          <a:p>
            <a:pPr algn="l">
              <a:lnSpc>
                <a:spcPts val="3384"/>
              </a:lnSpc>
            </a:pPr>
            <a:r>
              <a:rPr lang="en-US" sz="3006">
                <a:solidFill>
                  <a:srgbClr val="000000"/>
                </a:solidFill>
                <a:latin typeface="Times New Roman"/>
                <a:ea typeface="Times New Roman"/>
                <a:cs typeface="Times New Roman"/>
                <a:sym typeface="Times New Roman"/>
              </a:rPr>
              <a:t>2024</a:t>
            </a:r>
          </a:p>
        </p:txBody>
      </p:sp>
      <p:sp>
        <p:nvSpPr>
          <p:cNvPr name="TextBox 13" id="13"/>
          <p:cNvSpPr txBox="true"/>
          <p:nvPr/>
        </p:nvSpPr>
        <p:spPr>
          <a:xfrm rot="0">
            <a:off x="8726619" y="3753955"/>
            <a:ext cx="2317261" cy="449813"/>
          </a:xfrm>
          <a:prstGeom prst="rect">
            <a:avLst/>
          </a:prstGeom>
        </p:spPr>
        <p:txBody>
          <a:bodyPr anchor="t" rtlCol="false" tIns="0" lIns="0" bIns="0" rIns="0">
            <a:spAutoFit/>
          </a:bodyPr>
          <a:lstStyle/>
          <a:p>
            <a:pPr algn="l">
              <a:lnSpc>
                <a:spcPts val="3388"/>
              </a:lnSpc>
            </a:pPr>
            <a:r>
              <a:rPr lang="en-US" sz="3009">
                <a:solidFill>
                  <a:srgbClr val="000000"/>
                </a:solidFill>
                <a:latin typeface="Times New Roman"/>
                <a:ea typeface="Times New Roman"/>
                <a:cs typeface="Times New Roman"/>
                <a:sym typeface="Times New Roman"/>
              </a:rPr>
              <a:t>Convolutional </a:t>
            </a:r>
          </a:p>
        </p:txBody>
      </p:sp>
      <p:sp>
        <p:nvSpPr>
          <p:cNvPr name="TextBox 14" id="14"/>
          <p:cNvSpPr txBox="true"/>
          <p:nvPr/>
        </p:nvSpPr>
        <p:spPr>
          <a:xfrm rot="0">
            <a:off x="11618781" y="3753955"/>
            <a:ext cx="2662290" cy="449813"/>
          </a:xfrm>
          <a:prstGeom prst="rect">
            <a:avLst/>
          </a:prstGeom>
        </p:spPr>
        <p:txBody>
          <a:bodyPr anchor="t" rtlCol="false" tIns="0" lIns="0" bIns="0" rIns="0">
            <a:spAutoFit/>
          </a:bodyPr>
          <a:lstStyle/>
          <a:p>
            <a:pPr algn="l">
              <a:lnSpc>
                <a:spcPts val="3388"/>
              </a:lnSpc>
            </a:pPr>
            <a:r>
              <a:rPr lang="en-US" sz="3009">
                <a:solidFill>
                  <a:srgbClr val="000000"/>
                </a:solidFill>
                <a:latin typeface="Times New Roman"/>
                <a:ea typeface="Times New Roman"/>
                <a:cs typeface="Times New Roman"/>
                <a:sym typeface="Times New Roman"/>
              </a:rPr>
              <a:t>Neural </a:t>
            </a:r>
            <a:r>
              <a:rPr lang="en-US" b="true" sz="3009" i="true">
                <a:solidFill>
                  <a:srgbClr val="000000"/>
                </a:solidFill>
                <a:latin typeface="Times New Roman Bold Italics"/>
                <a:ea typeface="Times New Roman Bold Italics"/>
                <a:cs typeface="Times New Roman Bold Italics"/>
                <a:sym typeface="Times New Roman Bold Italics"/>
              </a:rPr>
              <a:t>Merits:</a:t>
            </a:r>
          </a:p>
        </p:txBody>
      </p:sp>
      <p:sp>
        <p:nvSpPr>
          <p:cNvPr name="TextBox 15" id="15"/>
          <p:cNvSpPr txBox="true"/>
          <p:nvPr/>
        </p:nvSpPr>
        <p:spPr>
          <a:xfrm rot="0">
            <a:off x="8726619" y="4211955"/>
            <a:ext cx="7337417" cy="449285"/>
          </a:xfrm>
          <a:prstGeom prst="rect">
            <a:avLst/>
          </a:prstGeom>
        </p:spPr>
        <p:txBody>
          <a:bodyPr anchor="t" rtlCol="false" tIns="0" lIns="0" bIns="0" rIns="0">
            <a:spAutoFit/>
          </a:bodyPr>
          <a:lstStyle/>
          <a:p>
            <a:pPr algn="l">
              <a:lnSpc>
                <a:spcPts val="3384"/>
              </a:lnSpc>
            </a:pPr>
            <a:r>
              <a:rPr lang="en-US" sz="3006">
                <a:solidFill>
                  <a:srgbClr val="000000"/>
                </a:solidFill>
                <a:latin typeface="Times New Roman"/>
                <a:ea typeface="Times New Roman"/>
                <a:cs typeface="Times New Roman"/>
                <a:sym typeface="Times New Roman"/>
              </a:rPr>
              <a:t>Network (CNN) models Automatic disease </a:t>
            </a:r>
          </a:p>
        </p:txBody>
      </p:sp>
      <p:sp>
        <p:nvSpPr>
          <p:cNvPr name="TextBox 16" id="16"/>
          <p:cNvSpPr txBox="true"/>
          <p:nvPr/>
        </p:nvSpPr>
        <p:spPr>
          <a:xfrm rot="0">
            <a:off x="4834890" y="4574667"/>
            <a:ext cx="1436151" cy="639785"/>
          </a:xfrm>
          <a:prstGeom prst="rect">
            <a:avLst/>
          </a:prstGeom>
        </p:spPr>
        <p:txBody>
          <a:bodyPr anchor="t" rtlCol="false" tIns="0" lIns="0" bIns="0" rIns="0">
            <a:spAutoFit/>
          </a:bodyPr>
          <a:lstStyle/>
          <a:p>
            <a:pPr algn="l">
              <a:lnSpc>
                <a:spcPts val="5326"/>
              </a:lnSpc>
            </a:pPr>
            <a:r>
              <a:rPr lang="en-US" b="true" sz="3006" i="true">
                <a:solidFill>
                  <a:srgbClr val="000000"/>
                </a:solidFill>
                <a:latin typeface="Times New Roman Bold Italics"/>
                <a:ea typeface="Times New Roman Bold Italics"/>
                <a:cs typeface="Times New Roman Bold Italics"/>
                <a:sym typeface="Times New Roman Bold Italics"/>
              </a:rPr>
              <a:t>Author:</a:t>
            </a:r>
            <a:r>
              <a:rPr lang="en-US" sz="3006">
                <a:solidFill>
                  <a:srgbClr val="000000"/>
                </a:solidFill>
                <a:latin typeface="Times New Roman"/>
                <a:ea typeface="Times New Roman"/>
                <a:cs typeface="Times New Roman"/>
                <a:sym typeface="Times New Roman"/>
              </a:rPr>
              <a:t> </a:t>
            </a:r>
          </a:p>
        </p:txBody>
      </p:sp>
      <p:sp>
        <p:nvSpPr>
          <p:cNvPr name="TextBox 17" id="17"/>
          <p:cNvSpPr txBox="true"/>
          <p:nvPr/>
        </p:nvSpPr>
        <p:spPr>
          <a:xfrm rot="0">
            <a:off x="7365878" y="4478655"/>
            <a:ext cx="7193871" cy="735797"/>
          </a:xfrm>
          <a:prstGeom prst="rect">
            <a:avLst/>
          </a:prstGeom>
        </p:spPr>
        <p:txBody>
          <a:bodyPr anchor="t" rtlCol="false" tIns="0" lIns="0" bIns="0" rIns="0">
            <a:spAutoFit/>
          </a:bodyPr>
          <a:lstStyle/>
          <a:p>
            <a:pPr algn="l">
              <a:lnSpc>
                <a:spcPts val="5326"/>
              </a:lnSpc>
            </a:pPr>
            <a:r>
              <a:rPr lang="en-US" sz="3006">
                <a:solidFill>
                  <a:srgbClr val="000000"/>
                </a:solidFill>
                <a:latin typeface="Times New Roman"/>
                <a:ea typeface="Times New Roman"/>
                <a:cs typeface="Times New Roman"/>
                <a:sym typeface="Times New Roman"/>
              </a:rPr>
              <a:t>Ashok are used to analyze leaf detection</a:t>
            </a:r>
          </a:p>
        </p:txBody>
      </p:sp>
      <p:sp>
        <p:nvSpPr>
          <p:cNvPr name="TextBox 18" id="18"/>
          <p:cNvSpPr txBox="true"/>
          <p:nvPr/>
        </p:nvSpPr>
        <p:spPr>
          <a:xfrm rot="0">
            <a:off x="4834890" y="5329047"/>
            <a:ext cx="3595335" cy="411185"/>
          </a:xfrm>
          <a:prstGeom prst="rect">
            <a:avLst/>
          </a:prstGeom>
        </p:spPr>
        <p:txBody>
          <a:bodyPr anchor="t" rtlCol="false" tIns="0" lIns="0" bIns="0" rIns="0">
            <a:spAutoFit/>
          </a:bodyPr>
          <a:lstStyle/>
          <a:p>
            <a:pPr algn="l">
              <a:lnSpc>
                <a:spcPts val="2951"/>
              </a:lnSpc>
            </a:pPr>
            <a:r>
              <a:rPr lang="en-US" sz="3006">
                <a:solidFill>
                  <a:srgbClr val="000000"/>
                </a:solidFill>
                <a:latin typeface="Times New Roman"/>
                <a:ea typeface="Times New Roman"/>
                <a:cs typeface="Times New Roman"/>
                <a:sym typeface="Times New Roman"/>
              </a:rPr>
              <a:t>Kumar, Pankaj Kumar</a:t>
            </a:r>
          </a:p>
        </p:txBody>
      </p:sp>
      <p:sp>
        <p:nvSpPr>
          <p:cNvPr name="TextBox 19" id="19"/>
          <p:cNvSpPr txBox="true"/>
          <p:nvPr/>
        </p:nvSpPr>
        <p:spPr>
          <a:xfrm rot="0">
            <a:off x="8726619" y="5164455"/>
            <a:ext cx="8454985" cy="411185"/>
          </a:xfrm>
          <a:prstGeom prst="rect">
            <a:avLst/>
          </a:prstGeom>
        </p:spPr>
        <p:txBody>
          <a:bodyPr anchor="t" rtlCol="false" tIns="0" lIns="0" bIns="0" rIns="0">
            <a:spAutoFit/>
          </a:bodyPr>
          <a:lstStyle/>
          <a:p>
            <a:pPr algn="l">
              <a:lnSpc>
                <a:spcPts val="2951"/>
              </a:lnSpc>
            </a:pPr>
            <a:r>
              <a:rPr lang="en-US" sz="3006">
                <a:solidFill>
                  <a:srgbClr val="000000"/>
                </a:solidFill>
                <a:latin typeface="Times New Roman"/>
                <a:ea typeface="Times New Roman"/>
                <a:cs typeface="Times New Roman"/>
                <a:sym typeface="Times New Roman"/>
              </a:rPr>
              <a:t>images and automatically Improves crop monitoring</a:t>
            </a:r>
          </a:p>
        </p:txBody>
      </p:sp>
      <p:sp>
        <p:nvSpPr>
          <p:cNvPr name="TextBox 20" id="20"/>
          <p:cNvSpPr txBox="true"/>
          <p:nvPr/>
        </p:nvSpPr>
        <p:spPr>
          <a:xfrm rot="0">
            <a:off x="8726619" y="5735955"/>
            <a:ext cx="3525369" cy="296885"/>
          </a:xfrm>
          <a:prstGeom prst="rect">
            <a:avLst/>
          </a:prstGeom>
        </p:spPr>
        <p:txBody>
          <a:bodyPr anchor="t" rtlCol="false" tIns="0" lIns="0" bIns="0" rIns="0">
            <a:spAutoFit/>
          </a:bodyPr>
          <a:lstStyle/>
          <a:p>
            <a:pPr algn="l">
              <a:lnSpc>
                <a:spcPts val="1725"/>
              </a:lnSpc>
            </a:pPr>
            <a:r>
              <a:rPr lang="en-US" sz="3006">
                <a:solidFill>
                  <a:srgbClr val="000000"/>
                </a:solidFill>
                <a:latin typeface="Times New Roman"/>
                <a:ea typeface="Times New Roman"/>
                <a:cs typeface="Times New Roman"/>
                <a:sym typeface="Times New Roman"/>
              </a:rPr>
              <a:t>classify plant diseases.</a:t>
            </a:r>
          </a:p>
        </p:txBody>
      </p:sp>
      <p:sp>
        <p:nvSpPr>
          <p:cNvPr name="TextBox 21" id="21"/>
          <p:cNvSpPr txBox="true"/>
          <p:nvPr/>
        </p:nvSpPr>
        <p:spPr>
          <a:xfrm rot="0">
            <a:off x="13021056" y="5735955"/>
            <a:ext cx="4042877" cy="1669056"/>
          </a:xfrm>
          <a:prstGeom prst="rect">
            <a:avLst/>
          </a:prstGeom>
        </p:spPr>
        <p:txBody>
          <a:bodyPr anchor="t" rtlCol="false" tIns="0" lIns="0" bIns="0" rIns="0">
            <a:spAutoFit/>
          </a:bodyPr>
          <a:lstStyle/>
          <a:p>
            <a:pPr algn="l">
              <a:lnSpc>
                <a:spcPts val="1725"/>
              </a:lnSpc>
            </a:pPr>
            <a:r>
              <a:rPr lang="en-US" b="true" sz="3006" i="true">
                <a:solidFill>
                  <a:srgbClr val="000000"/>
                </a:solidFill>
                <a:latin typeface="Times New Roman Bold Italics"/>
                <a:ea typeface="Times New Roman Bold Italics"/>
                <a:cs typeface="Times New Roman Bold Italics"/>
                <a:sym typeface="Times New Roman Bold Italics"/>
              </a:rPr>
              <a:t>Demerits: </a:t>
            </a:r>
            <a:r>
              <a:rPr lang="en-US" sz="3006">
                <a:solidFill>
                  <a:srgbClr val="000000"/>
                </a:solidFill>
                <a:latin typeface="Times New Roman"/>
                <a:ea typeface="Times New Roman"/>
                <a:cs typeface="Times New Roman"/>
                <a:sym typeface="Times New Roman"/>
              </a:rPr>
              <a:t>Sensitive to image quality Requires large training </a:t>
            </a:r>
          </a:p>
          <a:p>
            <a:pPr algn="l">
              <a:lnSpc>
                <a:spcPts val="5696"/>
              </a:lnSpc>
            </a:pPr>
            <a:r>
              <a:rPr lang="en-US" sz="3006">
                <a:solidFill>
                  <a:srgbClr val="000000"/>
                </a:solidFill>
                <a:latin typeface="Times New Roman"/>
                <a:ea typeface="Times New Roman"/>
                <a:cs typeface="Times New Roman"/>
                <a:sym typeface="Times New Roman"/>
              </a:rPr>
              <a:t>data</a:t>
            </a:r>
          </a:p>
        </p:txBody>
      </p:sp>
      <p:sp>
        <p:nvSpPr>
          <p:cNvPr name="TextBox 22" id="22"/>
          <p:cNvSpPr txBox="true"/>
          <p:nvPr/>
        </p:nvSpPr>
        <p:spPr>
          <a:xfrm rot="0">
            <a:off x="4834890" y="5968713"/>
            <a:ext cx="1522533" cy="297413"/>
          </a:xfrm>
          <a:prstGeom prst="rect">
            <a:avLst/>
          </a:prstGeom>
        </p:spPr>
        <p:txBody>
          <a:bodyPr anchor="t" rtlCol="false" tIns="0" lIns="0" bIns="0" rIns="0">
            <a:spAutoFit/>
          </a:bodyPr>
          <a:lstStyle/>
          <a:p>
            <a:pPr algn="l">
              <a:lnSpc>
                <a:spcPts val="1727"/>
              </a:lnSpc>
            </a:pPr>
            <a:r>
              <a:rPr lang="en-US" b="true" sz="3009" i="true">
                <a:solidFill>
                  <a:srgbClr val="000000"/>
                </a:solidFill>
                <a:latin typeface="Times New Roman Bold Italics"/>
                <a:ea typeface="Times New Roman Bold Italics"/>
                <a:cs typeface="Times New Roman Bold Italics"/>
                <a:sym typeface="Times New Roman Bold Italics"/>
              </a:rPr>
              <a:t>Journal:</a:t>
            </a:r>
            <a:r>
              <a:rPr lang="en-US" sz="3009">
                <a:solidFill>
                  <a:srgbClr val="000000"/>
                </a:solidFill>
                <a:latin typeface="Times New Roman"/>
                <a:ea typeface="Times New Roman"/>
                <a:cs typeface="Times New Roman"/>
                <a:sym typeface="Times New Roman"/>
              </a:rPr>
              <a:t> </a:t>
            </a:r>
          </a:p>
        </p:txBody>
      </p:sp>
      <p:sp>
        <p:nvSpPr>
          <p:cNvPr name="TextBox 23" id="23"/>
          <p:cNvSpPr txBox="true"/>
          <p:nvPr/>
        </p:nvSpPr>
        <p:spPr>
          <a:xfrm rot="0">
            <a:off x="6579494" y="5968713"/>
            <a:ext cx="1237683" cy="297413"/>
          </a:xfrm>
          <a:prstGeom prst="rect">
            <a:avLst/>
          </a:prstGeom>
        </p:spPr>
        <p:txBody>
          <a:bodyPr anchor="t" rtlCol="false" tIns="0" lIns="0" bIns="0" rIns="0">
            <a:spAutoFit/>
          </a:bodyPr>
          <a:lstStyle/>
          <a:p>
            <a:pPr algn="l">
              <a:lnSpc>
                <a:spcPts val="1727"/>
              </a:lnSpc>
            </a:pPr>
            <a:r>
              <a:rPr lang="en-US" sz="3009">
                <a:solidFill>
                  <a:srgbClr val="000000"/>
                </a:solidFill>
                <a:latin typeface="Times New Roman"/>
                <a:ea typeface="Times New Roman"/>
                <a:cs typeface="Times New Roman"/>
                <a:sym typeface="Times New Roman"/>
              </a:rPr>
              <a:t>Journal </a:t>
            </a:r>
          </a:p>
        </p:txBody>
      </p:sp>
      <p:sp>
        <p:nvSpPr>
          <p:cNvPr name="TextBox 24" id="24"/>
          <p:cNvSpPr txBox="true"/>
          <p:nvPr/>
        </p:nvSpPr>
        <p:spPr>
          <a:xfrm rot="0">
            <a:off x="8042534" y="5968713"/>
            <a:ext cx="421581" cy="297413"/>
          </a:xfrm>
          <a:prstGeom prst="rect">
            <a:avLst/>
          </a:prstGeom>
        </p:spPr>
        <p:txBody>
          <a:bodyPr anchor="t" rtlCol="false" tIns="0" lIns="0" bIns="0" rIns="0">
            <a:spAutoFit/>
          </a:bodyPr>
          <a:lstStyle/>
          <a:p>
            <a:pPr algn="l">
              <a:lnSpc>
                <a:spcPts val="1727"/>
              </a:lnSpc>
            </a:pPr>
            <a:r>
              <a:rPr lang="en-US" sz="3009">
                <a:solidFill>
                  <a:srgbClr val="000000"/>
                </a:solidFill>
                <a:latin typeface="Times New Roman"/>
                <a:ea typeface="Times New Roman"/>
                <a:cs typeface="Times New Roman"/>
                <a:sym typeface="Times New Roman"/>
              </a:rPr>
              <a:t>of </a:t>
            </a:r>
          </a:p>
        </p:txBody>
      </p:sp>
      <p:sp>
        <p:nvSpPr>
          <p:cNvPr name="TextBox 25" id="25"/>
          <p:cNvSpPr txBox="true"/>
          <p:nvPr/>
        </p:nvSpPr>
        <p:spPr>
          <a:xfrm rot="0">
            <a:off x="4834890" y="6352603"/>
            <a:ext cx="2873316" cy="439760"/>
          </a:xfrm>
          <a:prstGeom prst="rect">
            <a:avLst/>
          </a:prstGeom>
        </p:spPr>
        <p:txBody>
          <a:bodyPr anchor="t" rtlCol="false" tIns="0" lIns="0" bIns="0" rIns="0">
            <a:spAutoFit/>
          </a:bodyPr>
          <a:lstStyle/>
          <a:p>
            <a:pPr algn="l">
              <a:lnSpc>
                <a:spcPts val="3249"/>
              </a:lnSpc>
            </a:pPr>
            <a:r>
              <a:rPr lang="en-US" sz="3006">
                <a:solidFill>
                  <a:srgbClr val="000000"/>
                </a:solidFill>
                <a:latin typeface="Times New Roman"/>
                <a:ea typeface="Times New Roman"/>
                <a:cs typeface="Times New Roman"/>
                <a:sym typeface="Times New Roman"/>
              </a:rPr>
              <a:t>Electrical Systems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4866" y="1205865"/>
            <a:ext cx="16538167" cy="8667769"/>
          </a:xfrm>
          <a:custGeom>
            <a:avLst/>
            <a:gdLst/>
            <a:ahLst/>
            <a:cxnLst/>
            <a:rect r="r" b="b" t="t" l="l"/>
            <a:pathLst>
              <a:path h="8667769" w="16538167">
                <a:moveTo>
                  <a:pt x="0" y="0"/>
                </a:moveTo>
                <a:lnTo>
                  <a:pt x="16538168" y="0"/>
                </a:lnTo>
                <a:lnTo>
                  <a:pt x="16538168" y="8667769"/>
                </a:lnTo>
                <a:lnTo>
                  <a:pt x="0" y="8667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249924" y="284326"/>
            <a:ext cx="5910467"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LITERATURE SURVEY</a:t>
            </a:r>
          </a:p>
        </p:txBody>
      </p:sp>
      <p:sp>
        <p:nvSpPr>
          <p:cNvPr name="TextBox 4" id="4"/>
          <p:cNvSpPr txBox="true"/>
          <p:nvPr/>
        </p:nvSpPr>
        <p:spPr>
          <a:xfrm rot="0">
            <a:off x="1259129" y="2046518"/>
            <a:ext cx="392778" cy="733101"/>
          </a:xfrm>
          <a:prstGeom prst="rect">
            <a:avLst/>
          </a:prstGeom>
        </p:spPr>
        <p:txBody>
          <a:bodyPr anchor="t" rtlCol="false" tIns="0" lIns="0" bIns="0" rIns="0">
            <a:spAutoFit/>
          </a:bodyPr>
          <a:lstStyle/>
          <a:p>
            <a:pPr algn="r">
              <a:lnSpc>
                <a:spcPts val="2879"/>
              </a:lnSpc>
            </a:pPr>
            <a:r>
              <a:rPr lang="en-US" b="true" sz="2394">
                <a:solidFill>
                  <a:srgbClr val="000000"/>
                </a:solidFill>
                <a:latin typeface="Times New Roman Bold"/>
                <a:ea typeface="Times New Roman Bold"/>
                <a:cs typeface="Times New Roman Bold"/>
                <a:sym typeface="Times New Roman Bold"/>
              </a:rPr>
              <a:t>S. No</a:t>
            </a:r>
          </a:p>
        </p:txBody>
      </p:sp>
      <p:sp>
        <p:nvSpPr>
          <p:cNvPr name="TextBox 5" id="5"/>
          <p:cNvSpPr txBox="true"/>
          <p:nvPr/>
        </p:nvSpPr>
        <p:spPr>
          <a:xfrm rot="0">
            <a:off x="2430018" y="2181773"/>
            <a:ext cx="1476470"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Paper Title</a:t>
            </a:r>
          </a:p>
        </p:txBody>
      </p:sp>
      <p:sp>
        <p:nvSpPr>
          <p:cNvPr name="TextBox 6" id="6"/>
          <p:cNvSpPr txBox="true"/>
          <p:nvPr/>
        </p:nvSpPr>
        <p:spPr>
          <a:xfrm rot="0">
            <a:off x="5507931" y="1497078"/>
            <a:ext cx="77653" cy="367870"/>
          </a:xfrm>
          <a:prstGeom prst="rect">
            <a:avLst/>
          </a:prstGeom>
        </p:spPr>
        <p:txBody>
          <a:bodyPr anchor="t" rtlCol="false" tIns="0" lIns="0" bIns="0" rIns="0">
            <a:spAutoFit/>
          </a:bodyPr>
          <a:lstStyle/>
          <a:p>
            <a:pPr algn="l">
              <a:lnSpc>
                <a:spcPts val="2884"/>
              </a:lnSpc>
            </a:pPr>
            <a:r>
              <a:rPr lang="en-US" b="true" sz="2397">
                <a:solidFill>
                  <a:srgbClr val="000000"/>
                </a:solidFill>
                <a:latin typeface="Times New Roman Bold"/>
                <a:ea typeface="Times New Roman Bold"/>
                <a:cs typeface="Times New Roman Bold"/>
                <a:sym typeface="Times New Roman Bold"/>
              </a:rPr>
              <a:t> </a:t>
            </a:r>
          </a:p>
        </p:txBody>
      </p:sp>
      <p:sp>
        <p:nvSpPr>
          <p:cNvPr name="TextBox 7" id="7"/>
          <p:cNvSpPr txBox="true"/>
          <p:nvPr/>
        </p:nvSpPr>
        <p:spPr>
          <a:xfrm rot="0">
            <a:off x="4595817" y="1863638"/>
            <a:ext cx="1655721" cy="1098861"/>
          </a:xfrm>
          <a:prstGeom prst="rect">
            <a:avLst/>
          </a:prstGeom>
        </p:spPr>
        <p:txBody>
          <a:bodyPr anchor="t" rtlCol="false" tIns="0" lIns="0" bIns="0" rIns="0">
            <a:spAutoFit/>
          </a:bodyPr>
          <a:lstStyle/>
          <a:p>
            <a:pPr algn="ctr">
              <a:lnSpc>
                <a:spcPts val="2879"/>
              </a:lnSpc>
            </a:pPr>
            <a:r>
              <a:rPr lang="en-US" b="true" sz="2394">
                <a:solidFill>
                  <a:srgbClr val="000000"/>
                </a:solidFill>
                <a:latin typeface="Times New Roman Bold"/>
                <a:ea typeface="Times New Roman Bold"/>
                <a:cs typeface="Times New Roman Bold"/>
                <a:sym typeface="Times New Roman Bold"/>
              </a:rPr>
              <a:t>publication, Vol No., Issue No., </a:t>
            </a:r>
          </a:p>
        </p:txBody>
      </p:sp>
      <p:sp>
        <p:nvSpPr>
          <p:cNvPr name="TextBox 8" id="8"/>
          <p:cNvSpPr txBox="true"/>
          <p:nvPr/>
        </p:nvSpPr>
        <p:spPr>
          <a:xfrm rot="0">
            <a:off x="5185605" y="2960918"/>
            <a:ext cx="378347" cy="367327"/>
          </a:xfrm>
          <a:prstGeom prst="rect">
            <a:avLst/>
          </a:prstGeom>
        </p:spPr>
        <p:txBody>
          <a:bodyPr anchor="t" rtlCol="false" tIns="0" lIns="0" bIns="0" rIns="0">
            <a:spAutoFit/>
          </a:bodyPr>
          <a:lstStyle/>
          <a:p>
            <a:pPr algn="l">
              <a:lnSpc>
                <a:spcPts val="2879"/>
              </a:lnSpc>
            </a:pPr>
            <a:r>
              <a:rPr lang="en-US" b="true" sz="2394">
                <a:solidFill>
                  <a:srgbClr val="000000"/>
                </a:solidFill>
                <a:latin typeface="Times New Roman Bold"/>
                <a:ea typeface="Times New Roman Bold"/>
                <a:cs typeface="Times New Roman Bold"/>
                <a:sym typeface="Times New Roman Bold"/>
              </a:rPr>
              <a:t>PP</a:t>
            </a:r>
          </a:p>
        </p:txBody>
      </p:sp>
      <p:sp>
        <p:nvSpPr>
          <p:cNvPr name="TextBox 9" id="9"/>
          <p:cNvSpPr txBox="true"/>
          <p:nvPr/>
        </p:nvSpPr>
        <p:spPr>
          <a:xfrm rot="0">
            <a:off x="6902391" y="1680758"/>
            <a:ext cx="1139900" cy="1098847"/>
          </a:xfrm>
          <a:prstGeom prst="rect">
            <a:avLst/>
          </a:prstGeom>
        </p:spPr>
        <p:txBody>
          <a:bodyPr anchor="t" rtlCol="false" tIns="0" lIns="0" bIns="0" rIns="0">
            <a:spAutoFit/>
          </a:bodyPr>
          <a:lstStyle/>
          <a:p>
            <a:pPr algn="l">
              <a:lnSpc>
                <a:spcPts val="2879"/>
              </a:lnSpc>
            </a:pPr>
            <a:r>
              <a:rPr lang="en-US" b="true" sz="2394" spc="2">
                <a:solidFill>
                  <a:srgbClr val="000000"/>
                </a:solidFill>
                <a:latin typeface="Times New Roman Bold"/>
                <a:ea typeface="Times New Roman Bold"/>
                <a:cs typeface="Times New Roman Bold"/>
                <a:sym typeface="Times New Roman Bold"/>
              </a:rPr>
              <a:t>Journal Name / Authors</a:t>
            </a:r>
          </a:p>
        </p:txBody>
      </p:sp>
      <p:sp>
        <p:nvSpPr>
          <p:cNvPr name="TextBox 10" id="10"/>
          <p:cNvSpPr txBox="true"/>
          <p:nvPr/>
        </p:nvSpPr>
        <p:spPr>
          <a:xfrm rot="0">
            <a:off x="9655107" y="2181773"/>
            <a:ext cx="1744104" cy="414952"/>
          </a:xfrm>
          <a:prstGeom prst="rect">
            <a:avLst/>
          </a:prstGeom>
        </p:spPr>
        <p:txBody>
          <a:bodyPr anchor="t" rtlCol="false" tIns="0" lIns="0" bIns="0" rIns="0">
            <a:spAutoFit/>
          </a:bodyPr>
          <a:lstStyle/>
          <a:p>
            <a:pPr algn="l">
              <a:lnSpc>
                <a:spcPts val="3351"/>
              </a:lnSpc>
            </a:pPr>
            <a:r>
              <a:rPr lang="en-US" b="true" sz="2394" spc="2">
                <a:solidFill>
                  <a:srgbClr val="000000"/>
                </a:solidFill>
                <a:latin typeface="Times New Roman Bold"/>
                <a:ea typeface="Times New Roman Bold"/>
                <a:cs typeface="Times New Roman Bold"/>
                <a:sym typeface="Times New Roman Bold"/>
              </a:rPr>
              <a:t>Methodology</a:t>
            </a:r>
          </a:p>
        </p:txBody>
      </p:sp>
      <p:sp>
        <p:nvSpPr>
          <p:cNvPr name="TextBox 11" id="11"/>
          <p:cNvSpPr txBox="true"/>
          <p:nvPr/>
        </p:nvSpPr>
        <p:spPr>
          <a:xfrm rot="0">
            <a:off x="13837544" y="2181773"/>
            <a:ext cx="2170214"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Merits/Demerits</a:t>
            </a:r>
          </a:p>
        </p:txBody>
      </p:sp>
      <p:sp>
        <p:nvSpPr>
          <p:cNvPr name="TextBox 12" id="12"/>
          <p:cNvSpPr txBox="true"/>
          <p:nvPr/>
        </p:nvSpPr>
        <p:spPr>
          <a:xfrm rot="0">
            <a:off x="4904427" y="1449453"/>
            <a:ext cx="951948" cy="415495"/>
          </a:xfrm>
          <a:prstGeom prst="rect">
            <a:avLst/>
          </a:prstGeom>
        </p:spPr>
        <p:txBody>
          <a:bodyPr anchor="t" rtlCol="false" tIns="0" lIns="0" bIns="0" rIns="0">
            <a:spAutoFit/>
          </a:bodyPr>
          <a:lstStyle/>
          <a:p>
            <a:pPr algn="l">
              <a:lnSpc>
                <a:spcPts val="3356"/>
              </a:lnSpc>
            </a:pPr>
            <a:r>
              <a:rPr lang="en-US" b="true" sz="2397">
                <a:solidFill>
                  <a:srgbClr val="000000"/>
                </a:solidFill>
                <a:latin typeface="Times New Roman Bold"/>
                <a:ea typeface="Times New Roman Bold"/>
                <a:cs typeface="Times New Roman Bold"/>
                <a:sym typeface="Times New Roman Bold"/>
              </a:rPr>
              <a:t>Yearof</a:t>
            </a:r>
          </a:p>
        </p:txBody>
      </p:sp>
      <p:sp>
        <p:nvSpPr>
          <p:cNvPr name="TextBox 13" id="13"/>
          <p:cNvSpPr txBox="true"/>
          <p:nvPr/>
        </p:nvSpPr>
        <p:spPr>
          <a:xfrm rot="0">
            <a:off x="1316279" y="3635445"/>
            <a:ext cx="262433"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3.</a:t>
            </a:r>
          </a:p>
        </p:txBody>
      </p:sp>
      <p:sp>
        <p:nvSpPr>
          <p:cNvPr name="TextBox 14" id="14"/>
          <p:cNvSpPr txBox="true"/>
          <p:nvPr/>
        </p:nvSpPr>
        <p:spPr>
          <a:xfrm rot="0">
            <a:off x="2093590" y="3635445"/>
            <a:ext cx="805729"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Plant </a:t>
            </a:r>
          </a:p>
        </p:txBody>
      </p:sp>
      <p:sp>
        <p:nvSpPr>
          <p:cNvPr name="TextBox 15" id="15"/>
          <p:cNvSpPr txBox="true"/>
          <p:nvPr/>
        </p:nvSpPr>
        <p:spPr>
          <a:xfrm rot="0">
            <a:off x="3147436" y="3635445"/>
            <a:ext cx="1174132"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Disease </a:t>
            </a:r>
          </a:p>
        </p:txBody>
      </p:sp>
      <p:sp>
        <p:nvSpPr>
          <p:cNvPr name="TextBox 16" id="16"/>
          <p:cNvSpPr txBox="true"/>
          <p:nvPr/>
        </p:nvSpPr>
        <p:spPr>
          <a:xfrm rot="0">
            <a:off x="4579815" y="3658305"/>
            <a:ext cx="699745"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2025</a:t>
            </a:r>
          </a:p>
        </p:txBody>
      </p:sp>
      <p:sp>
        <p:nvSpPr>
          <p:cNvPr name="TextBox 17" id="17"/>
          <p:cNvSpPr txBox="true"/>
          <p:nvPr/>
        </p:nvSpPr>
        <p:spPr>
          <a:xfrm rot="0">
            <a:off x="6526916" y="3658305"/>
            <a:ext cx="1290718" cy="1890832"/>
          </a:xfrm>
          <a:prstGeom prst="rect">
            <a:avLst/>
          </a:prstGeom>
        </p:spPr>
        <p:txBody>
          <a:bodyPr anchor="t" rtlCol="false" tIns="0" lIns="0" bIns="0" rIns="0">
            <a:spAutoFit/>
          </a:bodyPr>
          <a:lstStyle/>
          <a:p>
            <a:pPr algn="l">
              <a:lnSpc>
                <a:spcPts val="3785"/>
              </a:lnSpc>
            </a:pPr>
            <a:r>
              <a:rPr lang="en-US" b="true" sz="2703" i="true">
                <a:solidFill>
                  <a:srgbClr val="000000"/>
                </a:solidFill>
                <a:latin typeface="Times New Roman Bold Italics"/>
                <a:ea typeface="Times New Roman Bold Italics"/>
                <a:cs typeface="Times New Roman Bold Italics"/>
                <a:sym typeface="Times New Roman Bold Italics"/>
              </a:rPr>
              <a:t>Author:</a:t>
            </a:r>
            <a:r>
              <a:rPr lang="en-US" sz="2703">
                <a:solidFill>
                  <a:srgbClr val="000000"/>
                </a:solidFill>
                <a:latin typeface="Times New Roman"/>
                <a:ea typeface="Times New Roman"/>
                <a:cs typeface="Times New Roman"/>
                <a:sym typeface="Times New Roman"/>
              </a:rPr>
              <a:t> Zunaira Zainab, Rabbia </a:t>
            </a:r>
          </a:p>
        </p:txBody>
      </p:sp>
      <p:sp>
        <p:nvSpPr>
          <p:cNvPr name="TextBox 18" id="18"/>
          <p:cNvSpPr txBox="true"/>
          <p:nvPr/>
        </p:nvSpPr>
        <p:spPr>
          <a:xfrm rot="0">
            <a:off x="6526916" y="8391282"/>
            <a:ext cx="1603172"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Processing </a:t>
            </a:r>
          </a:p>
        </p:txBody>
      </p:sp>
      <p:sp>
        <p:nvSpPr>
          <p:cNvPr name="TextBox 19" id="19"/>
          <p:cNvSpPr txBox="true"/>
          <p:nvPr/>
        </p:nvSpPr>
        <p:spPr>
          <a:xfrm rot="0">
            <a:off x="8710046" y="3635445"/>
            <a:ext cx="3760599" cy="2117146"/>
          </a:xfrm>
          <a:prstGeom prst="rect">
            <a:avLst/>
          </a:prstGeom>
        </p:spPr>
        <p:txBody>
          <a:bodyPr anchor="t" rtlCol="false" tIns="0" lIns="0" bIns="0" rIns="0">
            <a:spAutoFit/>
          </a:bodyPr>
          <a:lstStyle/>
          <a:p>
            <a:pPr algn="just">
              <a:lnSpc>
                <a:spcPts val="3785"/>
              </a:lnSpc>
            </a:pPr>
            <a:r>
              <a:rPr lang="en-US" sz="2703" spc="35">
                <a:solidFill>
                  <a:srgbClr val="000000"/>
                </a:solidFill>
                <a:latin typeface="Times New Roman"/>
                <a:ea typeface="Times New Roman"/>
                <a:cs typeface="Times New Roman"/>
                <a:sym typeface="Times New Roman"/>
              </a:rPr>
              <a:t>Deep learning algorithms </a:t>
            </a:r>
          </a:p>
          <a:p>
            <a:pPr algn="just">
              <a:lnSpc>
                <a:spcPts val="3240"/>
              </a:lnSpc>
            </a:pPr>
            <a:r>
              <a:rPr lang="en-US" sz="2700" spc="40">
                <a:solidFill>
                  <a:srgbClr val="000000"/>
                </a:solidFill>
                <a:latin typeface="Times New Roman"/>
                <a:ea typeface="Times New Roman"/>
                <a:cs typeface="Times New Roman"/>
                <a:sym typeface="Times New Roman"/>
              </a:rPr>
              <a:t>analyze plant leaf images to detect disease patterns and classify infected leaves.</a:t>
            </a:r>
          </a:p>
        </p:txBody>
      </p:sp>
      <p:sp>
        <p:nvSpPr>
          <p:cNvPr name="TextBox 20" id="20"/>
          <p:cNvSpPr txBox="true"/>
          <p:nvPr/>
        </p:nvSpPr>
        <p:spPr>
          <a:xfrm rot="0">
            <a:off x="12678156" y="3683070"/>
            <a:ext cx="4296780" cy="835081"/>
          </a:xfrm>
          <a:prstGeom prst="rect">
            <a:avLst/>
          </a:prstGeom>
        </p:spPr>
        <p:txBody>
          <a:bodyPr anchor="t" rtlCol="false" tIns="0" lIns="0" bIns="0" rIns="0">
            <a:spAutoFit/>
          </a:bodyPr>
          <a:lstStyle/>
          <a:p>
            <a:pPr algn="l">
              <a:lnSpc>
                <a:spcPts val="3249"/>
              </a:lnSpc>
            </a:pPr>
            <a:r>
              <a:rPr lang="en-US" b="true" sz="2703" i="true" spc="2">
                <a:solidFill>
                  <a:srgbClr val="000000"/>
                </a:solidFill>
                <a:latin typeface="Times New Roman Bold Italics"/>
                <a:ea typeface="Times New Roman Bold Italics"/>
                <a:cs typeface="Times New Roman Bold Italics"/>
                <a:sym typeface="Times New Roman Bold Italics"/>
              </a:rPr>
              <a:t>Merits: </a:t>
            </a:r>
            <a:r>
              <a:rPr lang="en-US" sz="2703" spc="2">
                <a:solidFill>
                  <a:srgbClr val="000000"/>
                </a:solidFill>
                <a:latin typeface="Times New Roman"/>
                <a:ea typeface="Times New Roman"/>
                <a:cs typeface="Times New Roman"/>
                <a:sym typeface="Times New Roman"/>
              </a:rPr>
              <a:t>Accuratedisease classification</a:t>
            </a:r>
          </a:p>
        </p:txBody>
      </p:sp>
      <p:sp>
        <p:nvSpPr>
          <p:cNvPr name="TextBox 21" id="21"/>
          <p:cNvSpPr txBox="true"/>
          <p:nvPr/>
        </p:nvSpPr>
        <p:spPr>
          <a:xfrm rot="0">
            <a:off x="13918425" y="4095550"/>
            <a:ext cx="87440" cy="422600"/>
          </a:xfrm>
          <a:prstGeom prst="rect">
            <a:avLst/>
          </a:prstGeom>
        </p:spPr>
        <p:txBody>
          <a:bodyPr anchor="t" rtlCol="false" tIns="0" lIns="0" bIns="0" rIns="0">
            <a:spAutoFit/>
          </a:bodyPr>
          <a:lstStyle/>
          <a:p>
            <a:pPr algn="l">
              <a:lnSpc>
                <a:spcPts val="3245"/>
              </a:lnSpc>
            </a:pPr>
            <a:r>
              <a:rPr lang="en-US" sz="2700">
                <a:solidFill>
                  <a:srgbClr val="000000"/>
                </a:solidFill>
                <a:latin typeface="Times New Roman"/>
                <a:ea typeface="Times New Roman"/>
                <a:cs typeface="Times New Roman"/>
                <a:sym typeface="Times New Roman"/>
              </a:rPr>
              <a:t> </a:t>
            </a:r>
          </a:p>
        </p:txBody>
      </p:sp>
      <p:sp>
        <p:nvSpPr>
          <p:cNvPr name="TextBox 22" id="22"/>
          <p:cNvSpPr txBox="true"/>
          <p:nvPr/>
        </p:nvSpPr>
        <p:spPr>
          <a:xfrm rot="0">
            <a:off x="2093590" y="4095550"/>
            <a:ext cx="1449167" cy="422600"/>
          </a:xfrm>
          <a:prstGeom prst="rect">
            <a:avLst/>
          </a:prstGeom>
        </p:spPr>
        <p:txBody>
          <a:bodyPr anchor="t" rtlCol="false" tIns="0" lIns="0" bIns="0" rIns="0">
            <a:spAutoFit/>
          </a:bodyPr>
          <a:lstStyle/>
          <a:p>
            <a:pPr algn="l">
              <a:lnSpc>
                <a:spcPts val="3240"/>
              </a:lnSpc>
            </a:pPr>
            <a:r>
              <a:rPr lang="en-US" sz="2700" spc="2">
                <a:solidFill>
                  <a:srgbClr val="000000"/>
                </a:solidFill>
                <a:latin typeface="Times New Roman"/>
                <a:ea typeface="Times New Roman"/>
                <a:cs typeface="Times New Roman"/>
                <a:sym typeface="Times New Roman"/>
              </a:rPr>
              <a:t>Detection </a:t>
            </a:r>
          </a:p>
        </p:txBody>
      </p:sp>
      <p:sp>
        <p:nvSpPr>
          <p:cNvPr name="TextBox 23" id="23"/>
          <p:cNvSpPr txBox="true"/>
          <p:nvPr/>
        </p:nvSpPr>
        <p:spPr>
          <a:xfrm rot="0">
            <a:off x="2093590" y="4507030"/>
            <a:ext cx="1592799" cy="124556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Using Learning Techniques</a:t>
            </a:r>
          </a:p>
        </p:txBody>
      </p:sp>
      <p:sp>
        <p:nvSpPr>
          <p:cNvPr name="TextBox 24" id="24"/>
          <p:cNvSpPr txBox="true"/>
          <p:nvPr/>
        </p:nvSpPr>
        <p:spPr>
          <a:xfrm rot="0">
            <a:off x="3490336" y="4507030"/>
            <a:ext cx="824260" cy="42260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Deep </a:t>
            </a:r>
          </a:p>
        </p:txBody>
      </p:sp>
      <p:sp>
        <p:nvSpPr>
          <p:cNvPr name="TextBox 25" id="25"/>
          <p:cNvSpPr txBox="true"/>
          <p:nvPr/>
        </p:nvSpPr>
        <p:spPr>
          <a:xfrm rot="0">
            <a:off x="6901820" y="5552113"/>
            <a:ext cx="1088093" cy="470225"/>
          </a:xfrm>
          <a:prstGeom prst="rect">
            <a:avLst/>
          </a:prstGeom>
        </p:spPr>
        <p:txBody>
          <a:bodyPr anchor="t" rtlCol="false" tIns="0" lIns="0" bIns="0" rIns="0">
            <a:spAutoFit/>
          </a:bodyPr>
          <a:lstStyle/>
          <a:p>
            <a:pPr algn="l">
              <a:lnSpc>
                <a:spcPts val="3726"/>
              </a:lnSpc>
            </a:pPr>
            <a:r>
              <a:rPr lang="en-US" sz="2700">
                <a:solidFill>
                  <a:srgbClr val="000000"/>
                </a:solidFill>
                <a:latin typeface="Times New Roman"/>
                <a:ea typeface="Times New Roman"/>
                <a:cs typeface="Times New Roman"/>
                <a:sym typeface="Times New Roman"/>
              </a:rPr>
              <a:t>Mahum</a:t>
            </a:r>
          </a:p>
        </p:txBody>
      </p:sp>
      <p:sp>
        <p:nvSpPr>
          <p:cNvPr name="TextBox 26" id="26"/>
          <p:cNvSpPr txBox="true"/>
          <p:nvPr/>
        </p:nvSpPr>
        <p:spPr>
          <a:xfrm rot="0">
            <a:off x="6526916" y="6024886"/>
            <a:ext cx="1941157" cy="2363848"/>
          </a:xfrm>
          <a:prstGeom prst="rect">
            <a:avLst/>
          </a:prstGeom>
        </p:spPr>
        <p:txBody>
          <a:bodyPr anchor="t" rtlCol="false" tIns="0" lIns="0" bIns="0" rIns="0">
            <a:spAutoFit/>
          </a:bodyPr>
          <a:lstStyle/>
          <a:p>
            <a:pPr algn="l">
              <a:lnSpc>
                <a:spcPts val="3730"/>
              </a:lnSpc>
            </a:pPr>
            <a:r>
              <a:rPr lang="en-US" b="true" sz="2703" i="true">
                <a:solidFill>
                  <a:srgbClr val="000000"/>
                </a:solidFill>
                <a:latin typeface="Times New Roman Bold Italics"/>
                <a:ea typeface="Times New Roman Bold Italics"/>
                <a:cs typeface="Times New Roman Bold Italics"/>
                <a:sym typeface="Times New Roman Bold Italics"/>
              </a:rPr>
              <a:t>Journal:</a:t>
            </a:r>
            <a:r>
              <a:rPr lang="en-US" sz="2703">
                <a:solidFill>
                  <a:srgbClr val="000000"/>
                </a:solidFill>
                <a:latin typeface="Times New Roman"/>
                <a:ea typeface="Times New Roman"/>
                <a:cs typeface="Times New Roman"/>
                <a:sym typeface="Times New Roman"/>
              </a:rPr>
              <a:t> ICCK Journal Image Analysis and </a:t>
            </a:r>
          </a:p>
        </p:txBody>
      </p:sp>
      <p:sp>
        <p:nvSpPr>
          <p:cNvPr name="TextBox 27" id="27"/>
          <p:cNvSpPr txBox="true"/>
          <p:nvPr/>
        </p:nvSpPr>
        <p:spPr>
          <a:xfrm rot="0">
            <a:off x="8060822" y="6972105"/>
            <a:ext cx="376576" cy="470225"/>
          </a:xfrm>
          <a:prstGeom prst="rect">
            <a:avLst/>
          </a:prstGeom>
        </p:spPr>
        <p:txBody>
          <a:bodyPr anchor="t" rtlCol="false" tIns="0" lIns="0" bIns="0" rIns="0">
            <a:spAutoFit/>
          </a:bodyPr>
          <a:lstStyle/>
          <a:p>
            <a:pPr algn="l">
              <a:lnSpc>
                <a:spcPts val="3726"/>
              </a:lnSpc>
            </a:pPr>
            <a:r>
              <a:rPr lang="en-US" sz="2700">
                <a:solidFill>
                  <a:srgbClr val="000000"/>
                </a:solidFill>
                <a:latin typeface="Times New Roman"/>
                <a:ea typeface="Times New Roman"/>
                <a:cs typeface="Times New Roman"/>
                <a:sym typeface="Times New Roman"/>
              </a:rPr>
              <a:t>of </a:t>
            </a:r>
          </a:p>
        </p:txBody>
      </p:sp>
      <p:sp>
        <p:nvSpPr>
          <p:cNvPr name="TextBox 28" id="28"/>
          <p:cNvSpPr txBox="true"/>
          <p:nvPr/>
        </p:nvSpPr>
        <p:spPr>
          <a:xfrm rot="0">
            <a:off x="12678156" y="4507030"/>
            <a:ext cx="4237672" cy="165704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Early disease detection </a:t>
            </a:r>
            <a:r>
              <a:rPr lang="en-US" b="true" sz="2700" i="true">
                <a:solidFill>
                  <a:srgbClr val="000000"/>
                </a:solidFill>
                <a:latin typeface="Times New Roman Bold Italics"/>
                <a:ea typeface="Times New Roman Bold Italics"/>
                <a:cs typeface="Times New Roman Bold Italics"/>
                <a:sym typeface="Times New Roman Bold Italics"/>
              </a:rPr>
              <a:t>Demerits: </a:t>
            </a:r>
            <a:r>
              <a:rPr lang="en-US" sz="2700">
                <a:solidFill>
                  <a:srgbClr val="000000"/>
                </a:solidFill>
                <a:latin typeface="Times New Roman"/>
                <a:ea typeface="Times New Roman"/>
                <a:cs typeface="Times New Roman"/>
                <a:sym typeface="Times New Roman"/>
              </a:rPr>
              <a:t>Computationally expensive Requires high-quality datasets</a:t>
            </a:r>
          </a:p>
        </p:txBody>
      </p:sp>
      <p:sp>
        <p:nvSpPr>
          <p:cNvPr name="TextBox 29" id="29"/>
          <p:cNvSpPr txBox="true"/>
          <p:nvPr/>
        </p:nvSpPr>
        <p:spPr>
          <a:xfrm rot="0">
            <a:off x="17556866" y="9585293"/>
            <a:ext cx="157234" cy="454419"/>
          </a:xfrm>
          <a:prstGeom prst="rect">
            <a:avLst/>
          </a:prstGeom>
        </p:spPr>
        <p:txBody>
          <a:bodyPr anchor="t" rtlCol="false" tIns="0" lIns="0" bIns="0" rIns="0">
            <a:spAutoFit/>
          </a:bodyPr>
          <a:lstStyle/>
          <a:p>
            <a:pPr algn="l">
              <a:lnSpc>
                <a:spcPts val="3351"/>
              </a:lnSpc>
            </a:pPr>
            <a:r>
              <a:rPr lang="en-US" sz="2394">
                <a:solidFill>
                  <a:srgbClr val="FFFFFF"/>
                </a:solidFill>
                <a:latin typeface="Calibri (MS)"/>
                <a:ea typeface="Calibri (MS)"/>
                <a:cs typeface="Calibri (MS)"/>
                <a:sym typeface="Calibri (M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98800" y="2803022"/>
            <a:ext cx="16690429" cy="4680971"/>
          </a:xfrm>
          <a:custGeom>
            <a:avLst/>
            <a:gdLst/>
            <a:ahLst/>
            <a:cxnLst/>
            <a:rect r="r" b="b" t="t" l="l"/>
            <a:pathLst>
              <a:path h="4680971" w="16690429">
                <a:moveTo>
                  <a:pt x="0" y="0"/>
                </a:moveTo>
                <a:lnTo>
                  <a:pt x="16690429" y="0"/>
                </a:lnTo>
                <a:lnTo>
                  <a:pt x="16690429" y="4680971"/>
                </a:lnTo>
                <a:lnTo>
                  <a:pt x="0" y="46809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249924" y="1072425"/>
            <a:ext cx="5910467"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LITERATURE SURVEY</a:t>
            </a:r>
          </a:p>
        </p:txBody>
      </p:sp>
      <p:sp>
        <p:nvSpPr>
          <p:cNvPr name="TextBox 4" id="4"/>
          <p:cNvSpPr txBox="true"/>
          <p:nvPr/>
        </p:nvSpPr>
        <p:spPr>
          <a:xfrm rot="0">
            <a:off x="1192835" y="3138840"/>
            <a:ext cx="392778" cy="733101"/>
          </a:xfrm>
          <a:prstGeom prst="rect">
            <a:avLst/>
          </a:prstGeom>
        </p:spPr>
        <p:txBody>
          <a:bodyPr anchor="t" rtlCol="false" tIns="0" lIns="0" bIns="0" rIns="0">
            <a:spAutoFit/>
          </a:bodyPr>
          <a:lstStyle/>
          <a:p>
            <a:pPr algn="r">
              <a:lnSpc>
                <a:spcPts val="2879"/>
              </a:lnSpc>
            </a:pPr>
            <a:r>
              <a:rPr lang="en-US" b="true" sz="2394">
                <a:solidFill>
                  <a:srgbClr val="000000"/>
                </a:solidFill>
                <a:latin typeface="Times New Roman Bold"/>
                <a:ea typeface="Times New Roman Bold"/>
                <a:cs typeface="Times New Roman Bold"/>
                <a:sym typeface="Times New Roman Bold"/>
              </a:rPr>
              <a:t>S. No</a:t>
            </a:r>
          </a:p>
        </p:txBody>
      </p:sp>
      <p:sp>
        <p:nvSpPr>
          <p:cNvPr name="TextBox 5" id="5"/>
          <p:cNvSpPr txBox="true"/>
          <p:nvPr/>
        </p:nvSpPr>
        <p:spPr>
          <a:xfrm rot="0">
            <a:off x="2583180" y="3274095"/>
            <a:ext cx="1476470"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Paper Title</a:t>
            </a:r>
          </a:p>
        </p:txBody>
      </p:sp>
      <p:sp>
        <p:nvSpPr>
          <p:cNvPr name="TextBox 6" id="6"/>
          <p:cNvSpPr txBox="true"/>
          <p:nvPr/>
        </p:nvSpPr>
        <p:spPr>
          <a:xfrm rot="0">
            <a:off x="5164460" y="3274095"/>
            <a:ext cx="3141193" cy="414952"/>
          </a:xfrm>
          <a:prstGeom prst="rect">
            <a:avLst/>
          </a:prstGeom>
        </p:spPr>
        <p:txBody>
          <a:bodyPr anchor="t" rtlCol="false" tIns="0" lIns="0" bIns="0" rIns="0">
            <a:spAutoFit/>
          </a:bodyPr>
          <a:lstStyle/>
          <a:p>
            <a:pPr algn="l">
              <a:lnSpc>
                <a:spcPts val="3351"/>
              </a:lnSpc>
            </a:pPr>
            <a:r>
              <a:rPr lang="en-US" b="true" sz="2394" spc="2">
                <a:solidFill>
                  <a:srgbClr val="000000"/>
                </a:solidFill>
                <a:latin typeface="Times New Roman Bold"/>
                <a:ea typeface="Times New Roman Bold"/>
                <a:cs typeface="Times New Roman Bold"/>
                <a:sym typeface="Times New Roman Bold"/>
              </a:rPr>
              <a:t>Authors &amp; Publications</a:t>
            </a:r>
          </a:p>
        </p:txBody>
      </p:sp>
      <p:sp>
        <p:nvSpPr>
          <p:cNvPr name="TextBox 7" id="7"/>
          <p:cNvSpPr txBox="true"/>
          <p:nvPr/>
        </p:nvSpPr>
        <p:spPr>
          <a:xfrm rot="0">
            <a:off x="9940857" y="3274095"/>
            <a:ext cx="1744104" cy="414952"/>
          </a:xfrm>
          <a:prstGeom prst="rect">
            <a:avLst/>
          </a:prstGeom>
        </p:spPr>
        <p:txBody>
          <a:bodyPr anchor="t" rtlCol="false" tIns="0" lIns="0" bIns="0" rIns="0">
            <a:spAutoFit/>
          </a:bodyPr>
          <a:lstStyle/>
          <a:p>
            <a:pPr algn="l">
              <a:lnSpc>
                <a:spcPts val="3351"/>
              </a:lnSpc>
            </a:pPr>
            <a:r>
              <a:rPr lang="en-US" b="true" sz="2394" spc="2">
                <a:solidFill>
                  <a:srgbClr val="000000"/>
                </a:solidFill>
                <a:latin typeface="Times New Roman Bold"/>
                <a:ea typeface="Times New Roman Bold"/>
                <a:cs typeface="Times New Roman Bold"/>
                <a:sym typeface="Times New Roman Bold"/>
              </a:rPr>
              <a:t>Methodology</a:t>
            </a:r>
          </a:p>
        </p:txBody>
      </p:sp>
      <p:sp>
        <p:nvSpPr>
          <p:cNvPr name="TextBox 8" id="8"/>
          <p:cNvSpPr txBox="true"/>
          <p:nvPr/>
        </p:nvSpPr>
        <p:spPr>
          <a:xfrm rot="0">
            <a:off x="14100048" y="3274095"/>
            <a:ext cx="2170214" cy="414952"/>
          </a:xfrm>
          <a:prstGeom prst="rect">
            <a:avLst/>
          </a:prstGeom>
        </p:spPr>
        <p:txBody>
          <a:bodyPr anchor="t" rtlCol="false" tIns="0" lIns="0" bIns="0" rIns="0">
            <a:spAutoFit/>
          </a:bodyPr>
          <a:lstStyle/>
          <a:p>
            <a:pPr algn="l">
              <a:lnSpc>
                <a:spcPts val="3351"/>
              </a:lnSpc>
            </a:pPr>
            <a:r>
              <a:rPr lang="en-US" b="true" sz="2394">
                <a:solidFill>
                  <a:srgbClr val="000000"/>
                </a:solidFill>
                <a:latin typeface="Times New Roman Bold"/>
                <a:ea typeface="Times New Roman Bold"/>
                <a:cs typeface="Times New Roman Bold"/>
                <a:sym typeface="Times New Roman Bold"/>
              </a:rPr>
              <a:t>Merits/Demerits</a:t>
            </a:r>
          </a:p>
        </p:txBody>
      </p:sp>
      <p:sp>
        <p:nvSpPr>
          <p:cNvPr name="TextBox 9" id="9"/>
          <p:cNvSpPr txBox="true"/>
          <p:nvPr/>
        </p:nvSpPr>
        <p:spPr>
          <a:xfrm rot="0">
            <a:off x="1249985" y="4222990"/>
            <a:ext cx="262318" cy="470225"/>
          </a:xfrm>
          <a:prstGeom prst="rect">
            <a:avLst/>
          </a:prstGeom>
        </p:spPr>
        <p:txBody>
          <a:bodyPr anchor="t" rtlCol="false" tIns="0" lIns="0" bIns="0" rIns="0">
            <a:spAutoFit/>
          </a:bodyPr>
          <a:lstStyle/>
          <a:p>
            <a:pPr algn="l">
              <a:lnSpc>
                <a:spcPts val="3779"/>
              </a:lnSpc>
            </a:pPr>
            <a:r>
              <a:rPr lang="en-US" sz="2700">
                <a:solidFill>
                  <a:srgbClr val="000000"/>
                </a:solidFill>
                <a:latin typeface="Times New Roman"/>
                <a:ea typeface="Times New Roman"/>
                <a:cs typeface="Times New Roman"/>
                <a:sym typeface="Times New Roman"/>
              </a:rPr>
              <a:t>4.</a:t>
            </a:r>
          </a:p>
        </p:txBody>
      </p:sp>
      <p:sp>
        <p:nvSpPr>
          <p:cNvPr name="TextBox 10" id="10"/>
          <p:cNvSpPr txBox="true"/>
          <p:nvPr/>
        </p:nvSpPr>
        <p:spPr>
          <a:xfrm rot="0">
            <a:off x="2040069" y="4270615"/>
            <a:ext cx="2662004" cy="2891852"/>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Advancing Plant Leaf Disease Detection Integrating Machine Learning and Deep Learning</a:t>
            </a:r>
          </a:p>
        </p:txBody>
      </p:sp>
      <p:sp>
        <p:nvSpPr>
          <p:cNvPr name="TextBox 11" id="11"/>
          <p:cNvSpPr txBox="true"/>
          <p:nvPr/>
        </p:nvSpPr>
        <p:spPr>
          <a:xfrm rot="0">
            <a:off x="4942332" y="4245850"/>
            <a:ext cx="699516" cy="470225"/>
          </a:xfrm>
          <a:prstGeom prst="rect">
            <a:avLst/>
          </a:prstGeom>
        </p:spPr>
        <p:txBody>
          <a:bodyPr anchor="t" rtlCol="false" tIns="0" lIns="0" bIns="0" rIns="0">
            <a:spAutoFit/>
          </a:bodyPr>
          <a:lstStyle/>
          <a:p>
            <a:pPr algn="l">
              <a:lnSpc>
                <a:spcPts val="3779"/>
              </a:lnSpc>
            </a:pPr>
            <a:r>
              <a:rPr lang="en-US" sz="2700">
                <a:solidFill>
                  <a:srgbClr val="000000"/>
                </a:solidFill>
                <a:latin typeface="Times New Roman"/>
                <a:ea typeface="Times New Roman"/>
                <a:cs typeface="Times New Roman"/>
                <a:sym typeface="Times New Roman"/>
              </a:rPr>
              <a:t>2025</a:t>
            </a:r>
          </a:p>
        </p:txBody>
      </p:sp>
      <p:sp>
        <p:nvSpPr>
          <p:cNvPr name="TextBox 12" id="12"/>
          <p:cNvSpPr txBox="true"/>
          <p:nvPr/>
        </p:nvSpPr>
        <p:spPr>
          <a:xfrm rot="0">
            <a:off x="8833490" y="4270615"/>
            <a:ext cx="5490315" cy="422600"/>
          </a:xfrm>
          <a:prstGeom prst="rect">
            <a:avLst/>
          </a:prstGeom>
        </p:spPr>
        <p:txBody>
          <a:bodyPr anchor="t" rtlCol="false" tIns="0" lIns="0" bIns="0" rIns="0">
            <a:spAutoFit/>
          </a:bodyPr>
          <a:lstStyle/>
          <a:p>
            <a:pPr algn="l">
              <a:lnSpc>
                <a:spcPts val="3240"/>
              </a:lnSpc>
            </a:pPr>
            <a:r>
              <a:rPr lang="en-US" sz="2700" spc="2">
                <a:solidFill>
                  <a:srgbClr val="000000"/>
                </a:solidFill>
                <a:latin typeface="Times New Roman"/>
                <a:ea typeface="Times New Roman"/>
                <a:cs typeface="Times New Roman"/>
                <a:sym typeface="Times New Roman"/>
              </a:rPr>
              <a:t>Combines machine learning </a:t>
            </a:r>
            <a:r>
              <a:rPr lang="en-US" b="true" sz="2700" i="true" spc="2">
                <a:solidFill>
                  <a:srgbClr val="000000"/>
                </a:solidFill>
                <a:latin typeface="Times New Roman Bold Italics"/>
                <a:ea typeface="Times New Roman Bold Italics"/>
                <a:cs typeface="Times New Roman Bold Italics"/>
                <a:sym typeface="Times New Roman Bold Italics"/>
              </a:rPr>
              <a:t>Merits:</a:t>
            </a:r>
          </a:p>
        </p:txBody>
      </p:sp>
      <p:sp>
        <p:nvSpPr>
          <p:cNvPr name="TextBox 13" id="13"/>
          <p:cNvSpPr txBox="true"/>
          <p:nvPr/>
        </p:nvSpPr>
        <p:spPr>
          <a:xfrm rot="0">
            <a:off x="8833490" y="4682095"/>
            <a:ext cx="1584398" cy="83408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and techniques </a:t>
            </a:r>
          </a:p>
        </p:txBody>
      </p:sp>
      <p:sp>
        <p:nvSpPr>
          <p:cNvPr name="TextBox 14" id="14"/>
          <p:cNvSpPr txBox="true"/>
          <p:nvPr/>
        </p:nvSpPr>
        <p:spPr>
          <a:xfrm rot="0">
            <a:off x="10161656" y="4682095"/>
            <a:ext cx="744979" cy="42260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deep </a:t>
            </a:r>
          </a:p>
        </p:txBody>
      </p:sp>
      <p:sp>
        <p:nvSpPr>
          <p:cNvPr name="TextBox 15" id="15"/>
          <p:cNvSpPr txBox="true"/>
          <p:nvPr/>
        </p:nvSpPr>
        <p:spPr>
          <a:xfrm rot="0">
            <a:off x="11636697" y="4682095"/>
            <a:ext cx="1234640" cy="834080"/>
          </a:xfrm>
          <a:prstGeom prst="rect">
            <a:avLst/>
          </a:prstGeom>
        </p:spPr>
        <p:txBody>
          <a:bodyPr anchor="t" rtlCol="false" tIns="0" lIns="0" bIns="0" rIns="0">
            <a:spAutoFit/>
          </a:bodyPr>
          <a:lstStyle/>
          <a:p>
            <a:pPr algn="r">
              <a:lnSpc>
                <a:spcPts val="3240"/>
              </a:lnSpc>
            </a:pPr>
            <a:r>
              <a:rPr lang="en-US" sz="2700">
                <a:solidFill>
                  <a:srgbClr val="000000"/>
                </a:solidFill>
                <a:latin typeface="Times New Roman"/>
                <a:ea typeface="Times New Roman"/>
                <a:cs typeface="Times New Roman"/>
                <a:sym typeface="Times New Roman"/>
              </a:rPr>
              <a:t>learning extract </a:t>
            </a:r>
          </a:p>
        </p:txBody>
      </p:sp>
      <p:sp>
        <p:nvSpPr>
          <p:cNvPr name="TextBox 16" id="16"/>
          <p:cNvSpPr txBox="true"/>
          <p:nvPr/>
        </p:nvSpPr>
        <p:spPr>
          <a:xfrm rot="0">
            <a:off x="13128112" y="4682095"/>
            <a:ext cx="3824607" cy="83408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Improved accuracy Effective feature extraction</a:t>
            </a:r>
          </a:p>
        </p:txBody>
      </p:sp>
      <p:sp>
        <p:nvSpPr>
          <p:cNvPr name="TextBox 17" id="17"/>
          <p:cNvSpPr txBox="true"/>
          <p:nvPr/>
        </p:nvSpPr>
        <p:spPr>
          <a:xfrm rot="0">
            <a:off x="10932038" y="5093575"/>
            <a:ext cx="357916" cy="42260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to </a:t>
            </a:r>
          </a:p>
        </p:txBody>
      </p:sp>
      <p:sp>
        <p:nvSpPr>
          <p:cNvPr name="TextBox 18" id="18"/>
          <p:cNvSpPr txBox="true"/>
          <p:nvPr/>
        </p:nvSpPr>
        <p:spPr>
          <a:xfrm rot="0">
            <a:off x="8833490" y="5504640"/>
            <a:ext cx="5859518" cy="423129"/>
          </a:xfrm>
          <a:prstGeom prst="rect">
            <a:avLst/>
          </a:prstGeom>
        </p:spPr>
        <p:txBody>
          <a:bodyPr anchor="t" rtlCol="false" tIns="0" lIns="0" bIns="0" rIns="0">
            <a:spAutoFit/>
          </a:bodyPr>
          <a:lstStyle/>
          <a:p>
            <a:pPr algn="l">
              <a:lnSpc>
                <a:spcPts val="3244"/>
              </a:lnSpc>
            </a:pPr>
            <a:r>
              <a:rPr lang="en-US" sz="2703">
                <a:solidFill>
                  <a:srgbClr val="000000"/>
                </a:solidFill>
                <a:latin typeface="Times New Roman"/>
                <a:ea typeface="Times New Roman"/>
                <a:cs typeface="Times New Roman"/>
                <a:sym typeface="Times New Roman"/>
              </a:rPr>
              <a:t>features from plant leaf </a:t>
            </a:r>
            <a:r>
              <a:rPr lang="en-US" b="true" sz="2703" i="true">
                <a:solidFill>
                  <a:srgbClr val="000000"/>
                </a:solidFill>
                <a:latin typeface="Times New Roman Bold Italics"/>
                <a:ea typeface="Times New Roman Bold Italics"/>
                <a:cs typeface="Times New Roman Bold Italics"/>
                <a:sym typeface="Times New Roman Bold Italics"/>
              </a:rPr>
              <a:t>Demerits:</a:t>
            </a:r>
          </a:p>
        </p:txBody>
      </p:sp>
      <p:sp>
        <p:nvSpPr>
          <p:cNvPr name="TextBox 19" id="19"/>
          <p:cNvSpPr txBox="true"/>
          <p:nvPr/>
        </p:nvSpPr>
        <p:spPr>
          <a:xfrm rot="0">
            <a:off x="8833490" y="5916920"/>
            <a:ext cx="4093912" cy="83408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images and classify diseases automatically.</a:t>
            </a:r>
          </a:p>
        </p:txBody>
      </p:sp>
      <p:sp>
        <p:nvSpPr>
          <p:cNvPr name="TextBox 20" id="20"/>
          <p:cNvSpPr txBox="true"/>
          <p:nvPr/>
        </p:nvSpPr>
        <p:spPr>
          <a:xfrm rot="0">
            <a:off x="13128112" y="5916920"/>
            <a:ext cx="3342289" cy="834080"/>
          </a:xfrm>
          <a:prstGeom prst="rect">
            <a:avLst/>
          </a:prstGeom>
        </p:spPr>
        <p:txBody>
          <a:bodyPr anchor="t" rtlCol="false" tIns="0" lIns="0" bIns="0" rIns="0">
            <a:spAutoFit/>
          </a:bodyPr>
          <a:lstStyle/>
          <a:p>
            <a:pPr algn="l">
              <a:lnSpc>
                <a:spcPts val="3240"/>
              </a:lnSpc>
            </a:pPr>
            <a:r>
              <a:rPr lang="en-US" sz="2700">
                <a:solidFill>
                  <a:srgbClr val="000000"/>
                </a:solidFill>
                <a:latin typeface="Times New Roman"/>
                <a:ea typeface="Times New Roman"/>
                <a:cs typeface="Times New Roman"/>
                <a:sym typeface="Times New Roman"/>
              </a:rPr>
              <a:t>Complex system design Requires large dataset</a:t>
            </a:r>
          </a:p>
        </p:txBody>
      </p:sp>
      <p:sp>
        <p:nvSpPr>
          <p:cNvPr name="TextBox 21" id="21"/>
          <p:cNvSpPr txBox="true"/>
          <p:nvPr/>
        </p:nvSpPr>
        <p:spPr>
          <a:xfrm rot="0">
            <a:off x="17556866" y="9585293"/>
            <a:ext cx="157234" cy="454419"/>
          </a:xfrm>
          <a:prstGeom prst="rect">
            <a:avLst/>
          </a:prstGeom>
        </p:spPr>
        <p:txBody>
          <a:bodyPr anchor="t" rtlCol="false" tIns="0" lIns="0" bIns="0" rIns="0">
            <a:spAutoFit/>
          </a:bodyPr>
          <a:lstStyle/>
          <a:p>
            <a:pPr algn="l">
              <a:lnSpc>
                <a:spcPts val="3351"/>
              </a:lnSpc>
            </a:pPr>
            <a:r>
              <a:rPr lang="en-US" sz="2394">
                <a:solidFill>
                  <a:srgbClr val="FFFFFF"/>
                </a:solidFill>
                <a:latin typeface="Calibri (MS)"/>
                <a:ea typeface="Calibri (MS)"/>
                <a:cs typeface="Calibri (MS)"/>
                <a:sym typeface="Calibri (MS)"/>
              </a:rPr>
              <a:t>8</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843559" y="9535287"/>
            <a:ext cx="118215" cy="339090"/>
          </a:xfrm>
          <a:prstGeom prst="rect">
            <a:avLst/>
          </a:prstGeom>
        </p:spPr>
        <p:txBody>
          <a:bodyPr anchor="t" rtlCol="false" tIns="0" lIns="0" bIns="0" rIns="0">
            <a:spAutoFit/>
          </a:bodyPr>
          <a:lstStyle/>
          <a:p>
            <a:pPr algn="l">
              <a:lnSpc>
                <a:spcPts val="2520"/>
              </a:lnSpc>
            </a:pPr>
            <a:r>
              <a:rPr lang="en-US" sz="1800">
                <a:solidFill>
                  <a:srgbClr val="FFFFFF"/>
                </a:solidFill>
                <a:latin typeface="Calibri (MS)"/>
                <a:ea typeface="Calibri (MS)"/>
                <a:cs typeface="Calibri (MS)"/>
                <a:sym typeface="Calibri (MS)"/>
              </a:rPr>
              <a:t>9</a:t>
            </a:r>
          </a:p>
        </p:txBody>
      </p:sp>
      <p:sp>
        <p:nvSpPr>
          <p:cNvPr name="TextBox 3" id="3"/>
          <p:cNvSpPr txBox="true"/>
          <p:nvPr/>
        </p:nvSpPr>
        <p:spPr>
          <a:xfrm rot="0">
            <a:off x="6531102" y="794490"/>
            <a:ext cx="5469084" cy="722085"/>
          </a:xfrm>
          <a:prstGeom prst="rect">
            <a:avLst/>
          </a:prstGeom>
        </p:spPr>
        <p:txBody>
          <a:bodyPr anchor="t" rtlCol="false" tIns="0" lIns="0" bIns="0" rIns="0">
            <a:spAutoFit/>
          </a:bodyPr>
          <a:lstStyle/>
          <a:p>
            <a:pPr algn="l">
              <a:lnSpc>
                <a:spcPts val="5871"/>
              </a:lnSpc>
            </a:pPr>
            <a:r>
              <a:rPr lang="en-US" b="true" sz="4193" spc="4">
                <a:solidFill>
                  <a:srgbClr val="000000"/>
                </a:solidFill>
                <a:latin typeface="Times New Roman Bold"/>
                <a:ea typeface="Times New Roman Bold"/>
                <a:cs typeface="Times New Roman Bold"/>
                <a:sym typeface="Times New Roman Bold"/>
              </a:rPr>
              <a:t>PROPOSED SYSTEM </a:t>
            </a:r>
          </a:p>
        </p:txBody>
      </p:sp>
      <p:sp>
        <p:nvSpPr>
          <p:cNvPr name="TextBox 4" id="4"/>
          <p:cNvSpPr txBox="true"/>
          <p:nvPr/>
        </p:nvSpPr>
        <p:spPr>
          <a:xfrm rot="0">
            <a:off x="1422349" y="2091666"/>
            <a:ext cx="15771871" cy="3802528"/>
          </a:xfrm>
          <a:prstGeom prst="rect">
            <a:avLst/>
          </a:prstGeom>
        </p:spPr>
        <p:txBody>
          <a:bodyPr anchor="t" rtlCol="false" tIns="0" lIns="0" bIns="0" rIns="0">
            <a:spAutoFit/>
          </a:bodyPr>
          <a:lstStyle/>
          <a:p>
            <a:pPr algn="just">
              <a:lnSpc>
                <a:spcPts val="4321"/>
              </a:lnSpc>
            </a:pPr>
            <a:r>
              <a:rPr lang="en-US" sz="2394" spc="9">
                <a:solidFill>
                  <a:srgbClr val="000000"/>
                </a:solidFill>
                <a:latin typeface="Times New Roman"/>
                <a:ea typeface="Times New Roman"/>
                <a:cs typeface="Times New Roman"/>
                <a:sym typeface="Times New Roman"/>
              </a:rPr>
              <a:t>This proposed paper offers a candid and computationally resourceful manner which is useful in the leaf disease detection and selection of fertilizers using artificial neural network. This proposed system involves different concepts related to image processing such as image acquisition, image preprocessing, feature extraction, artificial neural network based training, classification, diagnosis and treatment by using artificial neural network. In this performance, database is a accumulation of different texture features of some leaves. In this project it is possible to get the disease name and also we can get the fertilizer which is precise for that disease. But in previous attempts it was not happen so because of this we proposed this project, it is </a:t>
            </a:r>
          </a:p>
          <a:p>
            <a:pPr algn="just">
              <a:lnSpc>
                <a:spcPts val="3356"/>
              </a:lnSpc>
            </a:pPr>
            <a:r>
              <a:rPr lang="en-US" sz="2397" spc="2">
                <a:solidFill>
                  <a:srgbClr val="000000"/>
                </a:solidFill>
                <a:latin typeface="Times New Roman"/>
                <a:ea typeface="Times New Roman"/>
                <a:cs typeface="Times New Roman"/>
                <a:sym typeface="Times New Roman"/>
              </a:rPr>
              <a:t>better and gives good performance compared to other processing system.</a:t>
            </a:r>
          </a:p>
        </p:txBody>
      </p:sp>
      <p:sp>
        <p:nvSpPr>
          <p:cNvPr name="TextBox 5" id="5"/>
          <p:cNvSpPr txBox="true"/>
          <p:nvPr/>
        </p:nvSpPr>
        <p:spPr>
          <a:xfrm rot="0">
            <a:off x="1346454" y="6461941"/>
            <a:ext cx="2210098" cy="469583"/>
          </a:xfrm>
          <a:prstGeom prst="rect">
            <a:avLst/>
          </a:prstGeom>
        </p:spPr>
        <p:txBody>
          <a:bodyPr anchor="t" rtlCol="false" tIns="0" lIns="0" bIns="0" rIns="0">
            <a:spAutoFit/>
          </a:bodyPr>
          <a:lstStyle/>
          <a:p>
            <a:pPr algn="l">
              <a:lnSpc>
                <a:spcPts val="3779"/>
              </a:lnSpc>
            </a:pPr>
            <a:r>
              <a:rPr lang="en-US" b="true" sz="2700">
                <a:solidFill>
                  <a:srgbClr val="000000"/>
                </a:solidFill>
                <a:latin typeface="Times New Roman Bold"/>
                <a:ea typeface="Times New Roman Bold"/>
                <a:cs typeface="Times New Roman Bold"/>
                <a:sym typeface="Times New Roman Bold"/>
              </a:rPr>
              <a:t>ADVANTAGE</a:t>
            </a:r>
          </a:p>
        </p:txBody>
      </p:sp>
      <p:sp>
        <p:nvSpPr>
          <p:cNvPr name="TextBox 6" id="6"/>
          <p:cNvSpPr txBox="true"/>
          <p:nvPr/>
        </p:nvSpPr>
        <p:spPr>
          <a:xfrm rot="0">
            <a:off x="3144536" y="7145441"/>
            <a:ext cx="77524" cy="510202"/>
          </a:xfrm>
          <a:prstGeom prst="rect">
            <a:avLst/>
          </a:prstGeom>
        </p:spPr>
        <p:txBody>
          <a:bodyPr anchor="t" rtlCol="false" tIns="0" lIns="0" bIns="0" rIns="0">
            <a:spAutoFit/>
          </a:bodyPr>
          <a:lstStyle/>
          <a:p>
            <a:pPr algn="l">
              <a:lnSpc>
                <a:spcPts val="4321"/>
              </a:lnSpc>
            </a:pPr>
            <a:r>
              <a:rPr lang="en-US" b="true" sz="2394" spc="4">
                <a:solidFill>
                  <a:srgbClr val="000000"/>
                </a:solidFill>
                <a:latin typeface="Times New Roman Bold"/>
                <a:ea typeface="Times New Roman Bold"/>
                <a:cs typeface="Times New Roman Bold"/>
                <a:sym typeface="Times New Roman Bold"/>
              </a:rPr>
              <a:t> </a:t>
            </a:r>
          </a:p>
        </p:txBody>
      </p:sp>
      <p:sp>
        <p:nvSpPr>
          <p:cNvPr name="TextBox 7" id="7"/>
          <p:cNvSpPr txBox="true"/>
          <p:nvPr/>
        </p:nvSpPr>
        <p:spPr>
          <a:xfrm rot="0">
            <a:off x="1422349" y="7118143"/>
            <a:ext cx="12085367" cy="2140157"/>
          </a:xfrm>
          <a:prstGeom prst="rect">
            <a:avLst/>
          </a:prstGeom>
        </p:spPr>
        <p:txBody>
          <a:bodyPr anchor="t" rtlCol="false" tIns="0" lIns="0" bIns="0" rIns="0">
            <a:spAutoFit/>
          </a:bodyPr>
          <a:lstStyle/>
          <a:p>
            <a:pPr algn="l">
              <a:lnSpc>
                <a:spcPts val="4321"/>
              </a:lnSpc>
            </a:pPr>
            <a:r>
              <a:rPr lang="en-US" b="true" sz="2394" spc="4">
                <a:solidFill>
                  <a:srgbClr val="000000"/>
                </a:solidFill>
                <a:latin typeface="Times New Roman Bold"/>
                <a:ea typeface="Times New Roman Bold"/>
                <a:cs typeface="Times New Roman Bold"/>
                <a:sym typeface="Times New Roman Bold"/>
              </a:rPr>
              <a:t>Accurate</a:t>
            </a:r>
            <a:r>
              <a:rPr lang="en-US" b="true" sz="2394" spc="4">
                <a:solidFill>
                  <a:srgbClr val="000000"/>
                </a:solidFill>
                <a:latin typeface="Times New Roman Bold"/>
                <a:ea typeface="Times New Roman Bold"/>
                <a:cs typeface="Times New Roman Bold"/>
                <a:sym typeface="Times New Roman Bold"/>
              </a:rPr>
              <a:t> Disease Detection :  </a:t>
            </a:r>
            <a:r>
              <a:rPr lang="en-US" sz="2394" spc="4">
                <a:solidFill>
                  <a:srgbClr val="000000"/>
                </a:solidFill>
                <a:latin typeface="Times New Roman"/>
                <a:ea typeface="Times New Roman"/>
                <a:cs typeface="Times New Roman"/>
                <a:sym typeface="Times New Roman"/>
              </a:rPr>
              <a:t>Uses ANN to identify leaf diseases correctly.</a:t>
            </a:r>
          </a:p>
          <a:p>
            <a:pPr algn="l">
              <a:lnSpc>
                <a:spcPts val="4321"/>
              </a:lnSpc>
            </a:pPr>
            <a:r>
              <a:rPr lang="en-US" b="true" sz="2394" spc="4">
                <a:solidFill>
                  <a:srgbClr val="000000"/>
                </a:solidFill>
                <a:latin typeface="Times New Roman Bold"/>
                <a:ea typeface="Times New Roman Bold"/>
                <a:cs typeface="Times New Roman Bold"/>
                <a:sym typeface="Times New Roman Bold"/>
              </a:rPr>
              <a:t>Provides Fertilizer Suggestion :  </a:t>
            </a:r>
            <a:r>
              <a:rPr lang="en-US" sz="2394" spc="4">
                <a:solidFill>
                  <a:srgbClr val="000000"/>
                </a:solidFill>
                <a:latin typeface="Times New Roman"/>
                <a:ea typeface="Times New Roman"/>
                <a:cs typeface="Times New Roman"/>
                <a:sym typeface="Times New Roman"/>
              </a:rPr>
              <a:t>Suggests the correct fertilizer for each detected disease.</a:t>
            </a:r>
          </a:p>
          <a:p>
            <a:pPr algn="l">
              <a:lnSpc>
                <a:spcPts val="4321"/>
              </a:lnSpc>
            </a:pPr>
            <a:r>
              <a:rPr lang="en-US" b="true" sz="2394" spc="4">
                <a:solidFill>
                  <a:srgbClr val="000000"/>
                </a:solidFill>
                <a:latin typeface="Times New Roman Bold"/>
                <a:ea typeface="Times New Roman Bold"/>
                <a:cs typeface="Times New Roman Bold"/>
                <a:sym typeface="Times New Roman Bold"/>
              </a:rPr>
              <a:t>Saves Time and Effort :  </a:t>
            </a:r>
            <a:r>
              <a:rPr lang="en-US" sz="2394" spc="4">
                <a:solidFill>
                  <a:srgbClr val="000000"/>
                </a:solidFill>
                <a:latin typeface="Times New Roman"/>
                <a:ea typeface="Times New Roman"/>
                <a:cs typeface="Times New Roman"/>
                <a:sym typeface="Times New Roman"/>
              </a:rPr>
              <a:t>Reduces manual checking by farmers.</a:t>
            </a:r>
          </a:p>
          <a:p>
            <a:pPr algn="l">
              <a:lnSpc>
                <a:spcPts val="4321"/>
              </a:lnSpc>
            </a:pPr>
            <a:r>
              <a:rPr lang="en-US" b="true" sz="2394" spc="4">
                <a:solidFill>
                  <a:srgbClr val="000000"/>
                </a:solidFill>
                <a:latin typeface="Times New Roman Bold"/>
                <a:ea typeface="Times New Roman Bold"/>
                <a:cs typeface="Times New Roman Bold"/>
                <a:sym typeface="Times New Roman Bold"/>
              </a:rPr>
              <a:t>Better than Existing Systems :  </a:t>
            </a:r>
            <a:r>
              <a:rPr lang="en-US" sz="2394" spc="4">
                <a:solidFill>
                  <a:srgbClr val="000000"/>
                </a:solidFill>
                <a:latin typeface="Times New Roman"/>
                <a:ea typeface="Times New Roman"/>
                <a:cs typeface="Times New Roman"/>
                <a:sym typeface="Times New Roman"/>
              </a:rPr>
              <a:t>Detects disease and gives treatment, unlike older methods.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00700" y="2009980"/>
            <a:ext cx="7033265" cy="7283182"/>
            <a:chOff x="0" y="0"/>
            <a:chExt cx="6251791" cy="6473939"/>
          </a:xfrm>
        </p:grpSpPr>
        <p:sp>
          <p:nvSpPr>
            <p:cNvPr name="Freeform 3" id="3"/>
            <p:cNvSpPr/>
            <p:nvPr/>
          </p:nvSpPr>
          <p:spPr>
            <a:xfrm flipH="false" flipV="false" rot="0">
              <a:off x="0" y="0"/>
              <a:ext cx="6251829" cy="6473952"/>
            </a:xfrm>
            <a:custGeom>
              <a:avLst/>
              <a:gdLst/>
              <a:ahLst/>
              <a:cxnLst/>
              <a:rect r="r" b="b" t="t" l="l"/>
              <a:pathLst>
                <a:path h="6473952" w="6251829">
                  <a:moveTo>
                    <a:pt x="0" y="0"/>
                  </a:moveTo>
                  <a:lnTo>
                    <a:pt x="6251829" y="0"/>
                  </a:lnTo>
                  <a:lnTo>
                    <a:pt x="6251829" y="6473952"/>
                  </a:lnTo>
                  <a:lnTo>
                    <a:pt x="0" y="6473952"/>
                  </a:lnTo>
                  <a:lnTo>
                    <a:pt x="0" y="0"/>
                  </a:lnTo>
                  <a:close/>
                </a:path>
              </a:pathLst>
            </a:custGeom>
            <a:blipFill>
              <a:blip r:embed="rId2"/>
              <a:stretch>
                <a:fillRect l="0" t="0" r="0" b="0"/>
              </a:stretch>
            </a:blipFill>
          </p:spPr>
        </p:sp>
      </p:grpSp>
      <p:sp>
        <p:nvSpPr>
          <p:cNvPr name="TextBox 4" id="4"/>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10</a:t>
            </a:r>
          </a:p>
        </p:txBody>
      </p:sp>
      <p:sp>
        <p:nvSpPr>
          <p:cNvPr name="TextBox 5" id="5"/>
          <p:cNvSpPr txBox="true"/>
          <p:nvPr/>
        </p:nvSpPr>
        <p:spPr>
          <a:xfrm rot="0">
            <a:off x="6364610" y="347763"/>
            <a:ext cx="4816816"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BLOCK DIAGRAM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71193" y="2069301"/>
            <a:ext cx="9367457" cy="7062783"/>
          </a:xfrm>
          <a:custGeom>
            <a:avLst/>
            <a:gdLst/>
            <a:ahLst/>
            <a:cxnLst/>
            <a:rect r="r" b="b" t="t" l="l"/>
            <a:pathLst>
              <a:path h="7062783" w="9367457">
                <a:moveTo>
                  <a:pt x="0" y="0"/>
                </a:moveTo>
                <a:lnTo>
                  <a:pt x="9367456" y="0"/>
                </a:lnTo>
                <a:lnTo>
                  <a:pt x="9367456" y="7062783"/>
                </a:lnTo>
                <a:lnTo>
                  <a:pt x="0" y="7062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11</a:t>
            </a:r>
          </a:p>
        </p:txBody>
      </p:sp>
      <p:sp>
        <p:nvSpPr>
          <p:cNvPr name="TextBox 4" id="4"/>
          <p:cNvSpPr txBox="true"/>
          <p:nvPr/>
        </p:nvSpPr>
        <p:spPr>
          <a:xfrm rot="0">
            <a:off x="5530791" y="584549"/>
            <a:ext cx="7294169" cy="722085"/>
          </a:xfrm>
          <a:prstGeom prst="rect">
            <a:avLst/>
          </a:prstGeom>
        </p:spPr>
        <p:txBody>
          <a:bodyPr anchor="t" rtlCol="false" tIns="0" lIns="0" bIns="0" rIns="0">
            <a:spAutoFit/>
          </a:bodyPr>
          <a:lstStyle/>
          <a:p>
            <a:pPr algn="l">
              <a:lnSpc>
                <a:spcPts val="5871"/>
              </a:lnSpc>
            </a:pPr>
            <a:r>
              <a:rPr lang="en-US" b="true" sz="4193" spc="4">
                <a:solidFill>
                  <a:srgbClr val="000000"/>
                </a:solidFill>
                <a:latin typeface="Times New Roman Bold"/>
                <a:ea typeface="Times New Roman Bold"/>
                <a:cs typeface="Times New Roman Bold"/>
                <a:sym typeface="Times New Roman Bold"/>
              </a:rPr>
              <a:t>ARCHITECTURE DIAGRAM</a:t>
            </a:r>
          </a:p>
        </p:txBody>
      </p:sp>
      <p:sp>
        <p:nvSpPr>
          <p:cNvPr name="TextBox 5" id="5"/>
          <p:cNvSpPr txBox="true"/>
          <p:nvPr/>
        </p:nvSpPr>
        <p:spPr>
          <a:xfrm rot="0">
            <a:off x="9354698" y="5211208"/>
            <a:ext cx="660268" cy="326712"/>
          </a:xfrm>
          <a:prstGeom prst="rect">
            <a:avLst/>
          </a:prstGeom>
        </p:spPr>
        <p:txBody>
          <a:bodyPr anchor="t" rtlCol="false" tIns="0" lIns="0" bIns="0" rIns="0">
            <a:spAutoFit/>
          </a:bodyPr>
          <a:lstStyle/>
          <a:p>
            <a:pPr algn="l">
              <a:lnSpc>
                <a:spcPts val="2525"/>
              </a:lnSpc>
            </a:pPr>
            <a:r>
              <a:rPr lang="en-US" b="true" sz="1803">
                <a:solidFill>
                  <a:srgbClr val="000000"/>
                </a:solidFill>
                <a:latin typeface="Times New Roman Bold"/>
                <a:ea typeface="Times New Roman Bold"/>
                <a:cs typeface="Times New Roman Bold"/>
                <a:sym typeface="Times New Roman Bold"/>
              </a:rPr>
              <a:t>ESP32</a:t>
            </a:r>
          </a:p>
        </p:txBody>
      </p:sp>
      <p:sp>
        <p:nvSpPr>
          <p:cNvPr name="TextBox 6" id="6"/>
          <p:cNvSpPr txBox="true"/>
          <p:nvPr/>
        </p:nvSpPr>
        <p:spPr>
          <a:xfrm rot="0">
            <a:off x="5537649" y="2589009"/>
            <a:ext cx="1820842" cy="326184"/>
          </a:xfrm>
          <a:prstGeom prst="rect">
            <a:avLst/>
          </a:prstGeom>
        </p:spPr>
        <p:txBody>
          <a:bodyPr anchor="t" rtlCol="false" tIns="0" lIns="0" bIns="0" rIns="0">
            <a:spAutoFit/>
          </a:bodyPr>
          <a:lstStyle/>
          <a:p>
            <a:pPr algn="l">
              <a:lnSpc>
                <a:spcPts val="2520"/>
              </a:lnSpc>
            </a:pPr>
            <a:r>
              <a:rPr lang="en-US" b="true" sz="1800">
                <a:solidFill>
                  <a:srgbClr val="000000"/>
                </a:solidFill>
                <a:latin typeface="Times New Roman Bold"/>
                <a:ea typeface="Times New Roman Bold"/>
                <a:cs typeface="Times New Roman Bold"/>
                <a:sym typeface="Times New Roman Bold"/>
              </a:rPr>
              <a:t>POWER SUPPLY</a:t>
            </a:r>
          </a:p>
        </p:txBody>
      </p:sp>
      <p:sp>
        <p:nvSpPr>
          <p:cNvPr name="TextBox 7" id="7"/>
          <p:cNvSpPr txBox="true"/>
          <p:nvPr/>
        </p:nvSpPr>
        <p:spPr>
          <a:xfrm rot="0">
            <a:off x="5486786" y="4782807"/>
            <a:ext cx="1929727" cy="288084"/>
          </a:xfrm>
          <a:prstGeom prst="rect">
            <a:avLst/>
          </a:prstGeom>
        </p:spPr>
        <p:txBody>
          <a:bodyPr anchor="t" rtlCol="false" tIns="0" lIns="0" bIns="0" rIns="0">
            <a:spAutoFit/>
          </a:bodyPr>
          <a:lstStyle/>
          <a:p>
            <a:pPr algn="l">
              <a:lnSpc>
                <a:spcPts val="2160"/>
              </a:lnSpc>
            </a:pPr>
            <a:r>
              <a:rPr lang="en-US" b="true" sz="1800">
                <a:solidFill>
                  <a:srgbClr val="000000"/>
                </a:solidFill>
                <a:latin typeface="Times New Roman Bold"/>
                <a:ea typeface="Times New Roman Bold"/>
                <a:cs typeface="Times New Roman Bold"/>
                <a:sym typeface="Times New Roman Bold"/>
              </a:rPr>
              <a:t>SOIL MOISTURE </a:t>
            </a:r>
          </a:p>
        </p:txBody>
      </p:sp>
      <p:sp>
        <p:nvSpPr>
          <p:cNvPr name="TextBox 8" id="8"/>
          <p:cNvSpPr txBox="true"/>
          <p:nvPr/>
        </p:nvSpPr>
        <p:spPr>
          <a:xfrm rot="0">
            <a:off x="5946272" y="5057127"/>
            <a:ext cx="934788" cy="288084"/>
          </a:xfrm>
          <a:prstGeom prst="rect">
            <a:avLst/>
          </a:prstGeom>
        </p:spPr>
        <p:txBody>
          <a:bodyPr anchor="t" rtlCol="false" tIns="0" lIns="0" bIns="0" rIns="0">
            <a:spAutoFit/>
          </a:bodyPr>
          <a:lstStyle/>
          <a:p>
            <a:pPr algn="l">
              <a:lnSpc>
                <a:spcPts val="2160"/>
              </a:lnSpc>
            </a:pPr>
            <a:r>
              <a:rPr lang="en-US" b="true" sz="1800" spc="3">
                <a:solidFill>
                  <a:srgbClr val="000000"/>
                </a:solidFill>
                <a:latin typeface="Times New Roman Bold"/>
                <a:ea typeface="Times New Roman Bold"/>
                <a:cs typeface="Times New Roman Bold"/>
                <a:sym typeface="Times New Roman Bold"/>
              </a:rPr>
              <a:t>SENSOR</a:t>
            </a:r>
          </a:p>
        </p:txBody>
      </p:sp>
      <p:sp>
        <p:nvSpPr>
          <p:cNvPr name="TextBox 9" id="9"/>
          <p:cNvSpPr txBox="true"/>
          <p:nvPr/>
        </p:nvSpPr>
        <p:spPr>
          <a:xfrm rot="0">
            <a:off x="5244470" y="7652309"/>
            <a:ext cx="2421960" cy="288084"/>
          </a:xfrm>
          <a:prstGeom prst="rect">
            <a:avLst/>
          </a:prstGeom>
        </p:spPr>
        <p:txBody>
          <a:bodyPr anchor="t" rtlCol="false" tIns="0" lIns="0" bIns="0" rIns="0">
            <a:spAutoFit/>
          </a:bodyPr>
          <a:lstStyle/>
          <a:p>
            <a:pPr algn="l">
              <a:lnSpc>
                <a:spcPts val="2160"/>
              </a:lnSpc>
            </a:pPr>
            <a:r>
              <a:rPr lang="en-US" b="true" sz="1800">
                <a:solidFill>
                  <a:srgbClr val="000000"/>
                </a:solidFill>
                <a:latin typeface="Times New Roman Bold"/>
                <a:ea typeface="Times New Roman Bold"/>
                <a:cs typeface="Times New Roman Bold"/>
                <a:sym typeface="Times New Roman Bold"/>
              </a:rPr>
              <a:t>INPUT FROM IMAGE </a:t>
            </a:r>
          </a:p>
        </p:txBody>
      </p:sp>
      <p:sp>
        <p:nvSpPr>
          <p:cNvPr name="TextBox 10" id="10"/>
          <p:cNvSpPr txBox="true"/>
          <p:nvPr/>
        </p:nvSpPr>
        <p:spPr>
          <a:xfrm rot="0">
            <a:off x="5662808" y="7926629"/>
            <a:ext cx="1514918" cy="288084"/>
          </a:xfrm>
          <a:prstGeom prst="rect">
            <a:avLst/>
          </a:prstGeom>
        </p:spPr>
        <p:txBody>
          <a:bodyPr anchor="t" rtlCol="false" tIns="0" lIns="0" bIns="0" rIns="0">
            <a:spAutoFit/>
          </a:bodyPr>
          <a:lstStyle/>
          <a:p>
            <a:pPr algn="l">
              <a:lnSpc>
                <a:spcPts val="2160"/>
              </a:lnSpc>
            </a:pPr>
            <a:r>
              <a:rPr lang="en-US" b="true" sz="1800">
                <a:solidFill>
                  <a:srgbClr val="000000"/>
                </a:solidFill>
                <a:latin typeface="Times New Roman Bold"/>
                <a:ea typeface="Times New Roman Bold"/>
                <a:cs typeface="Times New Roman Bold"/>
                <a:sym typeface="Times New Roman Bold"/>
              </a:rPr>
              <a:t>PROCESSING</a:t>
            </a:r>
          </a:p>
        </p:txBody>
      </p:sp>
      <p:sp>
        <p:nvSpPr>
          <p:cNvPr name="TextBox 11" id="11"/>
          <p:cNvSpPr txBox="true"/>
          <p:nvPr/>
        </p:nvSpPr>
        <p:spPr>
          <a:xfrm rot="0">
            <a:off x="12364588" y="7585834"/>
            <a:ext cx="1063490" cy="326184"/>
          </a:xfrm>
          <a:prstGeom prst="rect">
            <a:avLst/>
          </a:prstGeom>
        </p:spPr>
        <p:txBody>
          <a:bodyPr anchor="t" rtlCol="false" tIns="0" lIns="0" bIns="0" rIns="0">
            <a:spAutoFit/>
          </a:bodyPr>
          <a:lstStyle/>
          <a:p>
            <a:pPr algn="l">
              <a:lnSpc>
                <a:spcPts val="2520"/>
              </a:lnSpc>
            </a:pPr>
            <a:r>
              <a:rPr lang="en-US" b="true" sz="1800">
                <a:solidFill>
                  <a:srgbClr val="000000"/>
                </a:solidFill>
                <a:latin typeface="Times New Roman Bold"/>
                <a:ea typeface="Times New Roman Bold"/>
                <a:cs typeface="Times New Roman Bold"/>
                <a:sym typeface="Times New Roman Bold"/>
              </a:rPr>
              <a:t>DC PUMP</a:t>
            </a:r>
          </a:p>
        </p:txBody>
      </p:sp>
      <p:sp>
        <p:nvSpPr>
          <p:cNvPr name="TextBox 12" id="12"/>
          <p:cNvSpPr txBox="true"/>
          <p:nvPr/>
        </p:nvSpPr>
        <p:spPr>
          <a:xfrm rot="0">
            <a:off x="12148190" y="2441377"/>
            <a:ext cx="1548265" cy="326184"/>
          </a:xfrm>
          <a:prstGeom prst="rect">
            <a:avLst/>
          </a:prstGeom>
        </p:spPr>
        <p:txBody>
          <a:bodyPr anchor="t" rtlCol="false" tIns="0" lIns="0" bIns="0" rIns="0">
            <a:spAutoFit/>
          </a:bodyPr>
          <a:lstStyle/>
          <a:p>
            <a:pPr algn="l">
              <a:lnSpc>
                <a:spcPts val="2520"/>
              </a:lnSpc>
            </a:pPr>
            <a:r>
              <a:rPr lang="en-US" b="true" sz="1800">
                <a:solidFill>
                  <a:srgbClr val="000000"/>
                </a:solidFill>
                <a:latin typeface="Times New Roman Bold"/>
                <a:ea typeface="Times New Roman Bold"/>
                <a:cs typeface="Times New Roman Bold"/>
                <a:sym typeface="Times New Roman Bold"/>
              </a:rPr>
              <a:t>LCD DISPLAY</a:t>
            </a:r>
          </a:p>
        </p:txBody>
      </p:sp>
      <p:sp>
        <p:nvSpPr>
          <p:cNvPr name="TextBox 13" id="13"/>
          <p:cNvSpPr txBox="true"/>
          <p:nvPr/>
        </p:nvSpPr>
        <p:spPr>
          <a:xfrm rot="0">
            <a:off x="11978640" y="6268712"/>
            <a:ext cx="1894294" cy="326184"/>
          </a:xfrm>
          <a:prstGeom prst="rect">
            <a:avLst/>
          </a:prstGeom>
        </p:spPr>
        <p:txBody>
          <a:bodyPr anchor="t" rtlCol="false" tIns="0" lIns="0" bIns="0" rIns="0">
            <a:spAutoFit/>
          </a:bodyPr>
          <a:lstStyle/>
          <a:p>
            <a:pPr algn="l">
              <a:lnSpc>
                <a:spcPts val="2520"/>
              </a:lnSpc>
            </a:pPr>
            <a:r>
              <a:rPr lang="en-US" b="true" sz="1800">
                <a:solidFill>
                  <a:srgbClr val="000000"/>
                </a:solidFill>
                <a:latin typeface="Times New Roman Bold"/>
                <a:ea typeface="Times New Roman Bold"/>
                <a:cs typeface="Times New Roman Bold"/>
                <a:sym typeface="Times New Roman Bold"/>
              </a:rPr>
              <a:t>RELAY MODULE</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12</a:t>
            </a:r>
          </a:p>
        </p:txBody>
      </p:sp>
      <p:sp>
        <p:nvSpPr>
          <p:cNvPr name="TextBox 3" id="3"/>
          <p:cNvSpPr txBox="true"/>
          <p:nvPr/>
        </p:nvSpPr>
        <p:spPr>
          <a:xfrm rot="0">
            <a:off x="5792338" y="814107"/>
            <a:ext cx="6836226"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SYSTEM REQUIREMENTS</a:t>
            </a:r>
          </a:p>
        </p:txBody>
      </p:sp>
      <p:sp>
        <p:nvSpPr>
          <p:cNvPr name="TextBox 4" id="4"/>
          <p:cNvSpPr txBox="true"/>
          <p:nvPr/>
        </p:nvSpPr>
        <p:spPr>
          <a:xfrm rot="0">
            <a:off x="2425446" y="2368139"/>
            <a:ext cx="275392" cy="431883"/>
          </a:xfrm>
          <a:prstGeom prst="rect">
            <a:avLst/>
          </a:prstGeom>
        </p:spPr>
        <p:txBody>
          <a:bodyPr anchor="t" rtlCol="false" tIns="0" lIns="0" bIns="0" rIns="0">
            <a:spAutoFit/>
          </a:bodyPr>
          <a:lstStyle/>
          <a:p>
            <a:pPr algn="l">
              <a:lnSpc>
                <a:spcPts val="3351"/>
              </a:lnSpc>
            </a:pPr>
            <a:r>
              <a:rPr lang="en-US" sz="2394">
                <a:solidFill>
                  <a:srgbClr val="FFFFFF"/>
                </a:solidFill>
                <a:latin typeface="Arimo"/>
                <a:ea typeface="Arimo"/>
                <a:cs typeface="Arimo"/>
                <a:sym typeface="Arimo"/>
              </a:rPr>
              <a:t>❖</a:t>
            </a:r>
          </a:p>
        </p:txBody>
      </p:sp>
      <p:sp>
        <p:nvSpPr>
          <p:cNvPr name="TextBox 5" id="5"/>
          <p:cNvSpPr txBox="true"/>
          <p:nvPr/>
        </p:nvSpPr>
        <p:spPr>
          <a:xfrm rot="0">
            <a:off x="2425446" y="6323876"/>
            <a:ext cx="275392" cy="431883"/>
          </a:xfrm>
          <a:prstGeom prst="rect">
            <a:avLst/>
          </a:prstGeom>
        </p:spPr>
        <p:txBody>
          <a:bodyPr anchor="t" rtlCol="false" tIns="0" lIns="0" bIns="0" rIns="0">
            <a:spAutoFit/>
          </a:bodyPr>
          <a:lstStyle/>
          <a:p>
            <a:pPr algn="l">
              <a:lnSpc>
                <a:spcPts val="3351"/>
              </a:lnSpc>
            </a:pPr>
            <a:r>
              <a:rPr lang="en-US" sz="2394">
                <a:solidFill>
                  <a:srgbClr val="FFFFFF"/>
                </a:solidFill>
                <a:latin typeface="Arimo"/>
                <a:ea typeface="Arimo"/>
                <a:cs typeface="Arimo"/>
                <a:sym typeface="Arimo"/>
              </a:rPr>
              <a:t>❖</a:t>
            </a:r>
          </a:p>
        </p:txBody>
      </p:sp>
      <p:sp>
        <p:nvSpPr>
          <p:cNvPr name="TextBox 6" id="6"/>
          <p:cNvSpPr txBox="true"/>
          <p:nvPr/>
        </p:nvSpPr>
        <p:spPr>
          <a:xfrm rot="0">
            <a:off x="2921894" y="6267455"/>
            <a:ext cx="6066144" cy="535010"/>
          </a:xfrm>
          <a:prstGeom prst="rect">
            <a:avLst/>
          </a:prstGeom>
        </p:spPr>
        <p:txBody>
          <a:bodyPr anchor="t" rtlCol="false" tIns="0" lIns="0" bIns="0" rIns="0">
            <a:spAutoFit/>
          </a:bodyPr>
          <a:lstStyle/>
          <a:p>
            <a:pPr algn="l">
              <a:lnSpc>
                <a:spcPts val="4208"/>
              </a:lnSpc>
            </a:pPr>
            <a:r>
              <a:rPr lang="en-US" b="true" sz="3006">
                <a:solidFill>
                  <a:srgbClr val="000000"/>
                </a:solidFill>
                <a:latin typeface="Times New Roman Bold"/>
                <a:ea typeface="Times New Roman Bold"/>
                <a:cs typeface="Times New Roman Bold"/>
                <a:sym typeface="Times New Roman Bold"/>
              </a:rPr>
              <a:t>4.2 SOFTWARE REQUIREMENTS</a:t>
            </a:r>
          </a:p>
        </p:txBody>
      </p:sp>
      <p:sp>
        <p:nvSpPr>
          <p:cNvPr name="TextBox 7" id="7"/>
          <p:cNvSpPr txBox="true"/>
          <p:nvPr/>
        </p:nvSpPr>
        <p:spPr>
          <a:xfrm rot="0">
            <a:off x="2921894" y="2311717"/>
            <a:ext cx="6199046" cy="535010"/>
          </a:xfrm>
          <a:prstGeom prst="rect">
            <a:avLst/>
          </a:prstGeom>
        </p:spPr>
        <p:txBody>
          <a:bodyPr anchor="t" rtlCol="false" tIns="0" lIns="0" bIns="0" rIns="0">
            <a:spAutoFit/>
          </a:bodyPr>
          <a:lstStyle/>
          <a:p>
            <a:pPr algn="l">
              <a:lnSpc>
                <a:spcPts val="4208"/>
              </a:lnSpc>
            </a:pPr>
            <a:r>
              <a:rPr lang="en-US" b="true" sz="3006">
                <a:solidFill>
                  <a:srgbClr val="000000"/>
                </a:solidFill>
                <a:latin typeface="Times New Roman Bold"/>
                <a:ea typeface="Times New Roman Bold"/>
                <a:cs typeface="Times New Roman Bold"/>
                <a:sym typeface="Times New Roman Bold"/>
              </a:rPr>
              <a:t>4.1 HARDWARE REQUIREMENTS</a:t>
            </a:r>
          </a:p>
        </p:txBody>
      </p:sp>
      <p:sp>
        <p:nvSpPr>
          <p:cNvPr name="TextBox 8" id="8"/>
          <p:cNvSpPr txBox="true"/>
          <p:nvPr/>
        </p:nvSpPr>
        <p:spPr>
          <a:xfrm rot="0">
            <a:off x="3111632" y="2969000"/>
            <a:ext cx="246602" cy="2473552"/>
          </a:xfrm>
          <a:prstGeom prst="rect">
            <a:avLst/>
          </a:prstGeom>
        </p:spPr>
        <p:txBody>
          <a:bodyPr anchor="t" rtlCol="false" tIns="0" lIns="0" bIns="0" rIns="0">
            <a:spAutoFit/>
          </a:bodyPr>
          <a:lstStyle/>
          <a:p>
            <a:pPr algn="just">
              <a:lnSpc>
                <a:spcPts val="3356"/>
              </a:lnSpc>
            </a:pPr>
            <a:r>
              <a:rPr lang="en-US" sz="2397">
                <a:solidFill>
                  <a:srgbClr val="FFFFFF"/>
                </a:solidFill>
                <a:latin typeface="Arimo"/>
                <a:ea typeface="Arimo"/>
                <a:cs typeface="Arimo"/>
                <a:sym typeface="Arimo"/>
              </a:rPr>
              <a:t>➢</a:t>
            </a:r>
          </a:p>
          <a:p>
            <a:pPr algn="just">
              <a:lnSpc>
                <a:spcPts val="5400"/>
              </a:lnSpc>
            </a:pPr>
            <a:r>
              <a:rPr lang="en-US" sz="2394">
                <a:solidFill>
                  <a:srgbClr val="FFFFFF"/>
                </a:solidFill>
                <a:latin typeface="Arimo"/>
                <a:ea typeface="Arimo"/>
                <a:cs typeface="Arimo"/>
                <a:sym typeface="Arimo"/>
              </a:rPr>
              <a:t>➢ ➢ ➢</a:t>
            </a:r>
          </a:p>
        </p:txBody>
      </p:sp>
      <p:sp>
        <p:nvSpPr>
          <p:cNvPr name="TextBox 9" id="9"/>
          <p:cNvSpPr txBox="true"/>
          <p:nvPr/>
        </p:nvSpPr>
        <p:spPr>
          <a:xfrm rot="0">
            <a:off x="3111632" y="7610537"/>
            <a:ext cx="246602" cy="1101952"/>
          </a:xfrm>
          <a:prstGeom prst="rect">
            <a:avLst/>
          </a:prstGeom>
        </p:spPr>
        <p:txBody>
          <a:bodyPr anchor="t" rtlCol="false" tIns="0" lIns="0" bIns="0" rIns="0">
            <a:spAutoFit/>
          </a:bodyPr>
          <a:lstStyle/>
          <a:p>
            <a:pPr algn="just">
              <a:lnSpc>
                <a:spcPts val="3356"/>
              </a:lnSpc>
            </a:pPr>
            <a:r>
              <a:rPr lang="en-US" sz="2397">
                <a:solidFill>
                  <a:srgbClr val="FFFFFF"/>
                </a:solidFill>
                <a:latin typeface="Arimo"/>
                <a:ea typeface="Arimo"/>
                <a:cs typeface="Arimo"/>
                <a:sym typeface="Arimo"/>
              </a:rPr>
              <a:t>➢ ➢</a:t>
            </a:r>
          </a:p>
        </p:txBody>
      </p:sp>
      <p:sp>
        <p:nvSpPr>
          <p:cNvPr name="TextBox 10" id="10"/>
          <p:cNvSpPr txBox="true"/>
          <p:nvPr/>
        </p:nvSpPr>
        <p:spPr>
          <a:xfrm rot="0">
            <a:off x="3625982" y="2997103"/>
            <a:ext cx="5007612" cy="2593224"/>
          </a:xfrm>
          <a:prstGeom prst="rect">
            <a:avLst/>
          </a:prstGeom>
        </p:spPr>
        <p:txBody>
          <a:bodyPr anchor="t" rtlCol="false" tIns="0" lIns="0" bIns="0" rIns="0">
            <a:spAutoFit/>
          </a:bodyPr>
          <a:lstStyle/>
          <a:p>
            <a:pPr algn="l">
              <a:lnSpc>
                <a:spcPts val="4213"/>
              </a:lnSpc>
            </a:pPr>
            <a:r>
              <a:rPr lang="en-US" sz="3009">
                <a:solidFill>
                  <a:srgbClr val="000000"/>
                </a:solidFill>
                <a:latin typeface="Times New Roman"/>
                <a:ea typeface="Times New Roman"/>
                <a:cs typeface="Times New Roman"/>
                <a:sym typeface="Times New Roman"/>
              </a:rPr>
              <a:t>ESP32 MICROCONTROLLER</a:t>
            </a:r>
          </a:p>
          <a:p>
            <a:pPr algn="l">
              <a:lnSpc>
                <a:spcPts val="5398"/>
              </a:lnSpc>
            </a:pPr>
            <a:r>
              <a:rPr lang="en-US" sz="3006">
                <a:solidFill>
                  <a:srgbClr val="000000"/>
                </a:solidFill>
                <a:latin typeface="Times New Roman"/>
                <a:ea typeface="Times New Roman"/>
                <a:cs typeface="Times New Roman"/>
                <a:sym typeface="Times New Roman"/>
              </a:rPr>
              <a:t>POWER SUPPLY RELAY MODULE DC PUMP</a:t>
            </a:r>
          </a:p>
        </p:txBody>
      </p:sp>
      <p:sp>
        <p:nvSpPr>
          <p:cNvPr name="TextBox 11" id="11"/>
          <p:cNvSpPr txBox="true"/>
          <p:nvPr/>
        </p:nvSpPr>
        <p:spPr>
          <a:xfrm rot="0">
            <a:off x="3625982" y="7638626"/>
            <a:ext cx="5426635" cy="1221624"/>
          </a:xfrm>
          <a:prstGeom prst="rect">
            <a:avLst/>
          </a:prstGeom>
        </p:spPr>
        <p:txBody>
          <a:bodyPr anchor="t" rtlCol="false" tIns="0" lIns="0" bIns="0" rIns="0">
            <a:spAutoFit/>
          </a:bodyPr>
          <a:lstStyle/>
          <a:p>
            <a:pPr algn="l">
              <a:lnSpc>
                <a:spcPts val="4213"/>
              </a:lnSpc>
            </a:pPr>
            <a:r>
              <a:rPr lang="en-US" sz="3009">
                <a:solidFill>
                  <a:srgbClr val="000000"/>
                </a:solidFill>
                <a:latin typeface="Times New Roman"/>
                <a:ea typeface="Times New Roman"/>
                <a:cs typeface="Times New Roman"/>
                <a:sym typeface="Times New Roman"/>
              </a:rPr>
              <a:t>Programming Language: M scripts Machine Learning Models: ANN</a:t>
            </a:r>
          </a:p>
        </p:txBody>
      </p:sp>
      <p:sp>
        <p:nvSpPr>
          <p:cNvPr name="TextBox 12" id="12"/>
          <p:cNvSpPr txBox="true"/>
          <p:nvPr/>
        </p:nvSpPr>
        <p:spPr>
          <a:xfrm rot="0">
            <a:off x="3111632" y="6925351"/>
            <a:ext cx="246231" cy="415138"/>
          </a:xfrm>
          <a:prstGeom prst="rect">
            <a:avLst/>
          </a:prstGeom>
        </p:spPr>
        <p:txBody>
          <a:bodyPr anchor="t" rtlCol="false" tIns="0" lIns="0" bIns="0" rIns="0">
            <a:spAutoFit/>
          </a:bodyPr>
          <a:lstStyle/>
          <a:p>
            <a:pPr algn="just">
              <a:lnSpc>
                <a:spcPts val="3351"/>
              </a:lnSpc>
            </a:pPr>
            <a:r>
              <a:rPr lang="en-US" sz="2394">
                <a:solidFill>
                  <a:srgbClr val="FFFFFF"/>
                </a:solidFill>
                <a:latin typeface="Arimo"/>
                <a:ea typeface="Arimo"/>
                <a:cs typeface="Arimo"/>
                <a:sym typeface="Arimo"/>
              </a:rPr>
              <a:t>➢</a:t>
            </a:r>
          </a:p>
        </p:txBody>
      </p:sp>
      <p:sp>
        <p:nvSpPr>
          <p:cNvPr name="TextBox 13" id="13"/>
          <p:cNvSpPr txBox="true"/>
          <p:nvPr/>
        </p:nvSpPr>
        <p:spPr>
          <a:xfrm rot="0">
            <a:off x="3625982" y="6953255"/>
            <a:ext cx="5576983" cy="535010"/>
          </a:xfrm>
          <a:prstGeom prst="rect">
            <a:avLst/>
          </a:prstGeom>
        </p:spPr>
        <p:txBody>
          <a:bodyPr anchor="t" rtlCol="false" tIns="0" lIns="0" bIns="0" rIns="0">
            <a:spAutoFit/>
          </a:bodyPr>
          <a:lstStyle/>
          <a:p>
            <a:pPr algn="l">
              <a:lnSpc>
                <a:spcPts val="4208"/>
              </a:lnSpc>
            </a:pPr>
            <a:r>
              <a:rPr lang="en-US" sz="3006">
                <a:solidFill>
                  <a:srgbClr val="000000"/>
                </a:solidFill>
                <a:latin typeface="Times New Roman"/>
                <a:ea typeface="Times New Roman"/>
                <a:cs typeface="Times New Roman"/>
                <a:sym typeface="Times New Roman"/>
              </a:rPr>
              <a:t>Operating System: Windows Server</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13</a:t>
            </a:r>
          </a:p>
        </p:txBody>
      </p:sp>
      <p:sp>
        <p:nvSpPr>
          <p:cNvPr name="TextBox 3" id="3"/>
          <p:cNvSpPr txBox="true"/>
          <p:nvPr/>
        </p:nvSpPr>
        <p:spPr>
          <a:xfrm rot="0">
            <a:off x="7798875" y="1252061"/>
            <a:ext cx="2744157"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MODULES</a:t>
            </a:r>
          </a:p>
        </p:txBody>
      </p:sp>
      <p:sp>
        <p:nvSpPr>
          <p:cNvPr name="TextBox 4" id="4"/>
          <p:cNvSpPr txBox="true"/>
          <p:nvPr/>
        </p:nvSpPr>
        <p:spPr>
          <a:xfrm rot="0">
            <a:off x="2497269" y="2441072"/>
            <a:ext cx="6094962" cy="5383992"/>
          </a:xfrm>
          <a:prstGeom prst="rect">
            <a:avLst/>
          </a:prstGeom>
        </p:spPr>
        <p:txBody>
          <a:bodyPr anchor="t" rtlCol="false" tIns="0" lIns="0" bIns="0" rIns="0">
            <a:spAutoFit/>
          </a:bodyPr>
          <a:lstStyle/>
          <a:p>
            <a:pPr algn="l">
              <a:lnSpc>
                <a:spcPts val="7199"/>
              </a:lnSpc>
            </a:pPr>
            <a:r>
              <a:rPr lang="en-US" sz="3006">
                <a:solidFill>
                  <a:srgbClr val="000000"/>
                </a:solidFill>
                <a:latin typeface="Times New Roman"/>
                <a:ea typeface="Times New Roman"/>
                <a:cs typeface="Times New Roman"/>
                <a:sym typeface="Times New Roman"/>
              </a:rPr>
              <a:t>•Image Acquisition Module •Image Pre-processing Module •Feature Extraction Module •Disease Classification Module</a:t>
            </a:r>
          </a:p>
          <a:p>
            <a:pPr algn="l">
              <a:lnSpc>
                <a:spcPts val="4213"/>
              </a:lnSpc>
            </a:pPr>
            <a:r>
              <a:rPr lang="en-US" sz="3009">
                <a:solidFill>
                  <a:srgbClr val="000000"/>
                </a:solidFill>
                <a:latin typeface="Times New Roman"/>
                <a:ea typeface="Times New Roman"/>
                <a:cs typeface="Times New Roman"/>
                <a:sym typeface="Times New Roman"/>
              </a:rPr>
              <a:t>•Fertilizer Recommendation Module •Automatic Fertilizer Spraying Module</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14</a:t>
            </a:r>
          </a:p>
        </p:txBody>
      </p:sp>
      <p:sp>
        <p:nvSpPr>
          <p:cNvPr name="TextBox 3" id="3"/>
          <p:cNvSpPr txBox="true"/>
          <p:nvPr/>
        </p:nvSpPr>
        <p:spPr>
          <a:xfrm rot="0">
            <a:off x="6290686" y="1037749"/>
            <a:ext cx="6351608" cy="722085"/>
          </a:xfrm>
          <a:prstGeom prst="rect">
            <a:avLst/>
          </a:prstGeom>
        </p:spPr>
        <p:txBody>
          <a:bodyPr anchor="t" rtlCol="false" tIns="0" lIns="0" bIns="0" rIns="0">
            <a:spAutoFit/>
          </a:bodyPr>
          <a:lstStyle/>
          <a:p>
            <a:pPr algn="l">
              <a:lnSpc>
                <a:spcPts val="5871"/>
              </a:lnSpc>
            </a:pPr>
            <a:r>
              <a:rPr lang="en-US" b="true" sz="4193" i="true">
                <a:solidFill>
                  <a:srgbClr val="000000"/>
                </a:solidFill>
                <a:latin typeface="Times New Roman Bold Italics"/>
                <a:ea typeface="Times New Roman Bold Italics"/>
                <a:cs typeface="Times New Roman Bold Italics"/>
                <a:sym typeface="Times New Roman Bold Italics"/>
              </a:rPr>
              <a:t>MODULE DESCRIPTION</a:t>
            </a:r>
          </a:p>
        </p:txBody>
      </p:sp>
      <p:sp>
        <p:nvSpPr>
          <p:cNvPr name="TextBox 4" id="4"/>
          <p:cNvSpPr txBox="true"/>
          <p:nvPr/>
        </p:nvSpPr>
        <p:spPr>
          <a:xfrm rot="0">
            <a:off x="1898752" y="2725617"/>
            <a:ext cx="4294294" cy="470754"/>
          </a:xfrm>
          <a:prstGeom prst="rect">
            <a:avLst/>
          </a:prstGeom>
        </p:spPr>
        <p:txBody>
          <a:bodyPr anchor="t" rtlCol="false" tIns="0" lIns="0" bIns="0" rIns="0">
            <a:spAutoFit/>
          </a:bodyPr>
          <a:lstStyle/>
          <a:p>
            <a:pPr algn="l">
              <a:lnSpc>
                <a:spcPts val="3785"/>
              </a:lnSpc>
            </a:pPr>
            <a:r>
              <a:rPr lang="en-US" b="true" sz="2703" i="true">
                <a:solidFill>
                  <a:srgbClr val="000000"/>
                </a:solidFill>
                <a:latin typeface="Times New Roman Bold Italics"/>
                <a:ea typeface="Times New Roman Bold Italics"/>
                <a:cs typeface="Times New Roman Bold Italics"/>
                <a:sym typeface="Times New Roman Bold Italics"/>
              </a:rPr>
              <a:t>1. Image Acquisition Module</a:t>
            </a:r>
          </a:p>
        </p:txBody>
      </p:sp>
      <p:sp>
        <p:nvSpPr>
          <p:cNvPr name="TextBox 5" id="5"/>
          <p:cNvSpPr txBox="true"/>
          <p:nvPr/>
        </p:nvSpPr>
        <p:spPr>
          <a:xfrm rot="0">
            <a:off x="1898752" y="3292402"/>
            <a:ext cx="14930738" cy="3196652"/>
          </a:xfrm>
          <a:prstGeom prst="rect">
            <a:avLst/>
          </a:prstGeom>
        </p:spPr>
        <p:txBody>
          <a:bodyPr anchor="t" rtlCol="false" tIns="0" lIns="0" bIns="0" rIns="0">
            <a:spAutoFit/>
          </a:bodyPr>
          <a:lstStyle/>
          <a:p>
            <a:pPr algn="just">
              <a:lnSpc>
                <a:spcPts val="6480"/>
              </a:lnSpc>
            </a:pPr>
            <a:r>
              <a:rPr lang="en-US" sz="2700" spc="13">
                <a:solidFill>
                  <a:srgbClr val="000000"/>
                </a:solidFill>
                <a:latin typeface="Times New Roman"/>
                <a:ea typeface="Times New Roman"/>
                <a:cs typeface="Times New Roman"/>
                <a:sym typeface="Times New Roman"/>
              </a:rPr>
              <a:t>This module is responsible for capturing images of plant leaves using a digital camera or mobile camera. The captured images serve as the input for the disease detection system. Clear and high-quality images help in improving the accuracy of disease identification. </a:t>
            </a:r>
            <a:r>
              <a:rPr lang="en-US" b="true" sz="2700" i="true" spc="13">
                <a:solidFill>
                  <a:srgbClr val="000000"/>
                </a:solidFill>
                <a:latin typeface="Times New Roman Bold Italics"/>
                <a:ea typeface="Times New Roman Bold Italics"/>
                <a:cs typeface="Times New Roman Bold Italics"/>
                <a:sym typeface="Times New Roman Bold Italics"/>
              </a:rPr>
              <a:t>2. Image Pre-processing Module</a:t>
            </a:r>
          </a:p>
        </p:txBody>
      </p:sp>
      <p:sp>
        <p:nvSpPr>
          <p:cNvPr name="TextBox 6" id="6"/>
          <p:cNvSpPr txBox="true"/>
          <p:nvPr/>
        </p:nvSpPr>
        <p:spPr>
          <a:xfrm rot="0">
            <a:off x="1898752" y="6584628"/>
            <a:ext cx="14930738" cy="2373778"/>
          </a:xfrm>
          <a:prstGeom prst="rect">
            <a:avLst/>
          </a:prstGeom>
        </p:spPr>
        <p:txBody>
          <a:bodyPr anchor="t" rtlCol="false" tIns="0" lIns="0" bIns="0" rIns="0">
            <a:spAutoFit/>
          </a:bodyPr>
          <a:lstStyle/>
          <a:p>
            <a:pPr algn="just">
              <a:lnSpc>
                <a:spcPts val="6480"/>
              </a:lnSpc>
            </a:pPr>
            <a:r>
              <a:rPr lang="en-US" sz="2700" spc="18">
                <a:solidFill>
                  <a:srgbClr val="000000"/>
                </a:solidFill>
                <a:latin typeface="Times New Roman"/>
                <a:ea typeface="Times New Roman"/>
                <a:cs typeface="Times New Roman"/>
                <a:sym typeface="Times New Roman"/>
              </a:rPr>
              <a:t>In this stage, the captured images are processed to remove noise and improve image quality. Techniques such as filtering, resizing, and color enhancement are applied. This step ensures that the image is suitable for further analysis.</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15</a:t>
            </a:r>
          </a:p>
        </p:txBody>
      </p:sp>
      <p:sp>
        <p:nvSpPr>
          <p:cNvPr name="TextBox 3" id="3"/>
          <p:cNvSpPr txBox="true"/>
          <p:nvPr/>
        </p:nvSpPr>
        <p:spPr>
          <a:xfrm rot="0">
            <a:off x="6825610" y="926402"/>
            <a:ext cx="4553998" cy="535010"/>
          </a:xfrm>
          <a:prstGeom prst="rect">
            <a:avLst/>
          </a:prstGeom>
        </p:spPr>
        <p:txBody>
          <a:bodyPr anchor="t" rtlCol="false" tIns="0" lIns="0" bIns="0" rIns="0">
            <a:spAutoFit/>
          </a:bodyPr>
          <a:lstStyle/>
          <a:p>
            <a:pPr algn="l">
              <a:lnSpc>
                <a:spcPts val="4208"/>
              </a:lnSpc>
            </a:pPr>
            <a:r>
              <a:rPr lang="en-US" b="true" sz="3006" i="true">
                <a:solidFill>
                  <a:srgbClr val="000000"/>
                </a:solidFill>
                <a:latin typeface="Times New Roman Bold Italics"/>
                <a:ea typeface="Times New Roman Bold Italics"/>
                <a:cs typeface="Times New Roman Bold Italics"/>
                <a:sym typeface="Times New Roman Bold Italics"/>
              </a:rPr>
              <a:t>MODULE DESCRIPTION</a:t>
            </a:r>
          </a:p>
        </p:txBody>
      </p:sp>
      <p:sp>
        <p:nvSpPr>
          <p:cNvPr name="TextBox 4" id="4"/>
          <p:cNvSpPr txBox="true"/>
          <p:nvPr/>
        </p:nvSpPr>
        <p:spPr>
          <a:xfrm rot="0">
            <a:off x="1876806" y="2288276"/>
            <a:ext cx="4425296" cy="727400"/>
          </a:xfrm>
          <a:prstGeom prst="rect">
            <a:avLst/>
          </a:prstGeom>
        </p:spPr>
        <p:txBody>
          <a:bodyPr anchor="t" rtlCol="false" tIns="0" lIns="0" bIns="0" rIns="0">
            <a:spAutoFit/>
          </a:bodyPr>
          <a:lstStyle/>
          <a:p>
            <a:pPr algn="l">
              <a:lnSpc>
                <a:spcPts val="6480"/>
              </a:lnSpc>
            </a:pPr>
            <a:r>
              <a:rPr lang="en-US" b="true" sz="2700" i="true">
                <a:solidFill>
                  <a:srgbClr val="000000"/>
                </a:solidFill>
                <a:latin typeface="Times New Roman Bold Italics"/>
                <a:ea typeface="Times New Roman Bold Italics"/>
                <a:cs typeface="Times New Roman Bold Italics"/>
                <a:sym typeface="Times New Roman Bold Italics"/>
              </a:rPr>
              <a:t>3. Feature Extraction Module</a:t>
            </a:r>
          </a:p>
        </p:txBody>
      </p:sp>
      <p:sp>
        <p:nvSpPr>
          <p:cNvPr name="TextBox 5" id="5"/>
          <p:cNvSpPr txBox="true"/>
          <p:nvPr/>
        </p:nvSpPr>
        <p:spPr>
          <a:xfrm rot="0">
            <a:off x="1876806" y="3111236"/>
            <a:ext cx="15138306" cy="2373892"/>
          </a:xfrm>
          <a:prstGeom prst="rect">
            <a:avLst/>
          </a:prstGeom>
        </p:spPr>
        <p:txBody>
          <a:bodyPr anchor="t" rtlCol="false" tIns="0" lIns="0" bIns="0" rIns="0">
            <a:spAutoFit/>
          </a:bodyPr>
          <a:lstStyle/>
          <a:p>
            <a:pPr algn="l">
              <a:lnSpc>
                <a:spcPts val="6480"/>
              </a:lnSpc>
            </a:pPr>
            <a:r>
              <a:rPr lang="en-US" sz="2700" spc="40">
                <a:solidFill>
                  <a:srgbClr val="000000"/>
                </a:solidFill>
                <a:latin typeface="Times New Roman"/>
                <a:ea typeface="Times New Roman"/>
                <a:cs typeface="Times New Roman"/>
                <a:sym typeface="Times New Roman"/>
              </a:rPr>
              <a:t>This module extracts important features from the processed leaf images. Features such as color, texture, and shape of the leaf are analyzed. These characteristics help in identifying the symptoms of plant diseases. </a:t>
            </a:r>
            <a:r>
              <a:rPr lang="en-US" b="true" sz="2700" i="true" spc="40">
                <a:solidFill>
                  <a:srgbClr val="000000"/>
                </a:solidFill>
                <a:latin typeface="Times New Roman Bold Italics"/>
                <a:ea typeface="Times New Roman Bold Italics"/>
                <a:cs typeface="Times New Roman Bold Italics"/>
                <a:sym typeface="Times New Roman Bold Italics"/>
              </a:rPr>
              <a:t>4. Disease Classification Module</a:t>
            </a:r>
          </a:p>
        </p:txBody>
      </p:sp>
      <p:sp>
        <p:nvSpPr>
          <p:cNvPr name="TextBox 6" id="6"/>
          <p:cNvSpPr txBox="true"/>
          <p:nvPr/>
        </p:nvSpPr>
        <p:spPr>
          <a:xfrm rot="0">
            <a:off x="1876806" y="5580688"/>
            <a:ext cx="15138306" cy="2373692"/>
          </a:xfrm>
          <a:prstGeom prst="rect">
            <a:avLst/>
          </a:prstGeom>
        </p:spPr>
        <p:txBody>
          <a:bodyPr anchor="t" rtlCol="false" tIns="0" lIns="0" bIns="0" rIns="0">
            <a:spAutoFit/>
          </a:bodyPr>
          <a:lstStyle/>
          <a:p>
            <a:pPr algn="just">
              <a:lnSpc>
                <a:spcPts val="6480"/>
              </a:lnSpc>
            </a:pPr>
            <a:r>
              <a:rPr lang="en-US" sz="2700" spc="64">
                <a:solidFill>
                  <a:srgbClr val="000000"/>
                </a:solidFill>
                <a:latin typeface="Times New Roman"/>
                <a:ea typeface="Times New Roman"/>
                <a:cs typeface="Times New Roman"/>
                <a:sym typeface="Times New Roman"/>
              </a:rPr>
              <a:t>In this module, machine learning or neural network algorithms are used to classify the type of disease affecting the leaf. The system compares the extracted features with the trained dataset to identify the specific disease.</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16</a:t>
            </a:r>
          </a:p>
        </p:txBody>
      </p:sp>
      <p:sp>
        <p:nvSpPr>
          <p:cNvPr name="TextBox 3" id="3"/>
          <p:cNvSpPr txBox="true"/>
          <p:nvPr/>
        </p:nvSpPr>
        <p:spPr>
          <a:xfrm rot="0">
            <a:off x="6909621" y="1106424"/>
            <a:ext cx="4553998" cy="535010"/>
          </a:xfrm>
          <a:prstGeom prst="rect">
            <a:avLst/>
          </a:prstGeom>
        </p:spPr>
        <p:txBody>
          <a:bodyPr anchor="t" rtlCol="false" tIns="0" lIns="0" bIns="0" rIns="0">
            <a:spAutoFit/>
          </a:bodyPr>
          <a:lstStyle/>
          <a:p>
            <a:pPr algn="l">
              <a:lnSpc>
                <a:spcPts val="4208"/>
              </a:lnSpc>
            </a:pPr>
            <a:r>
              <a:rPr lang="en-US" b="true" sz="3006" i="true">
                <a:solidFill>
                  <a:srgbClr val="000000"/>
                </a:solidFill>
                <a:latin typeface="Times New Roman Bold Italics"/>
                <a:ea typeface="Times New Roman Bold Italics"/>
                <a:cs typeface="Times New Roman Bold Italics"/>
                <a:sym typeface="Times New Roman Bold Italics"/>
              </a:rPr>
              <a:t>MODULE DESCRIPTION</a:t>
            </a:r>
          </a:p>
        </p:txBody>
      </p:sp>
      <p:sp>
        <p:nvSpPr>
          <p:cNvPr name="TextBox 4" id="4"/>
          <p:cNvSpPr txBox="true"/>
          <p:nvPr/>
        </p:nvSpPr>
        <p:spPr>
          <a:xfrm rot="0">
            <a:off x="1361084" y="2439724"/>
            <a:ext cx="5687382" cy="727400"/>
          </a:xfrm>
          <a:prstGeom prst="rect">
            <a:avLst/>
          </a:prstGeom>
        </p:spPr>
        <p:txBody>
          <a:bodyPr anchor="t" rtlCol="false" tIns="0" lIns="0" bIns="0" rIns="0">
            <a:spAutoFit/>
          </a:bodyPr>
          <a:lstStyle/>
          <a:p>
            <a:pPr algn="l">
              <a:lnSpc>
                <a:spcPts val="6480"/>
              </a:lnSpc>
            </a:pPr>
            <a:r>
              <a:rPr lang="en-US" b="true" sz="2700" i="true">
                <a:solidFill>
                  <a:srgbClr val="000000"/>
                </a:solidFill>
                <a:latin typeface="Times New Roman Bold Italics"/>
                <a:ea typeface="Times New Roman Bold Italics"/>
                <a:cs typeface="Times New Roman Bold Italics"/>
                <a:sym typeface="Times New Roman Bold Italics"/>
              </a:rPr>
              <a:t>5. Fertilizer Recommendation Module</a:t>
            </a:r>
          </a:p>
        </p:txBody>
      </p:sp>
      <p:sp>
        <p:nvSpPr>
          <p:cNvPr name="TextBox 5" id="5"/>
          <p:cNvSpPr txBox="true"/>
          <p:nvPr/>
        </p:nvSpPr>
        <p:spPr>
          <a:xfrm rot="0">
            <a:off x="1361084" y="3262684"/>
            <a:ext cx="15712335" cy="2373692"/>
          </a:xfrm>
          <a:prstGeom prst="rect">
            <a:avLst/>
          </a:prstGeom>
        </p:spPr>
        <p:txBody>
          <a:bodyPr anchor="t" rtlCol="false" tIns="0" lIns="0" bIns="0" rIns="0">
            <a:spAutoFit/>
          </a:bodyPr>
          <a:lstStyle/>
          <a:p>
            <a:pPr algn="l">
              <a:lnSpc>
                <a:spcPts val="6480"/>
              </a:lnSpc>
            </a:pPr>
            <a:r>
              <a:rPr lang="en-US" sz="2700" spc="51">
                <a:solidFill>
                  <a:srgbClr val="000000"/>
                </a:solidFill>
                <a:latin typeface="Times New Roman"/>
                <a:ea typeface="Times New Roman"/>
                <a:cs typeface="Times New Roman"/>
                <a:sym typeface="Times New Roman"/>
              </a:rPr>
              <a:t>After identifying the disease, the system determines the appropriate fertilizer or treatment required for that particular disease. This helps farmers apply the correct fertilizer for plant recovery. </a:t>
            </a:r>
            <a:r>
              <a:rPr lang="en-US" b="true" sz="2700" i="true" spc="51">
                <a:solidFill>
                  <a:srgbClr val="000000"/>
                </a:solidFill>
                <a:latin typeface="Times New Roman Bold Italics"/>
                <a:ea typeface="Times New Roman Bold Italics"/>
                <a:cs typeface="Times New Roman Bold Italics"/>
                <a:sym typeface="Times New Roman Bold Italics"/>
              </a:rPr>
              <a:t>6. Automatic Fertilizer Spraying Module</a:t>
            </a:r>
          </a:p>
        </p:txBody>
      </p:sp>
      <p:sp>
        <p:nvSpPr>
          <p:cNvPr name="TextBox 6" id="6"/>
          <p:cNvSpPr txBox="true"/>
          <p:nvPr/>
        </p:nvSpPr>
        <p:spPr>
          <a:xfrm rot="0">
            <a:off x="1361084" y="5731950"/>
            <a:ext cx="15712335" cy="1550732"/>
          </a:xfrm>
          <a:prstGeom prst="rect">
            <a:avLst/>
          </a:prstGeom>
        </p:spPr>
        <p:txBody>
          <a:bodyPr anchor="t" rtlCol="false" tIns="0" lIns="0" bIns="0" rIns="0">
            <a:spAutoFit/>
          </a:bodyPr>
          <a:lstStyle/>
          <a:p>
            <a:pPr algn="l">
              <a:lnSpc>
                <a:spcPts val="6480"/>
              </a:lnSpc>
            </a:pPr>
            <a:r>
              <a:rPr lang="en-US" sz="2700" spc="45">
                <a:solidFill>
                  <a:srgbClr val="000000"/>
                </a:solidFill>
                <a:latin typeface="Times New Roman"/>
                <a:ea typeface="Times New Roman"/>
                <a:cs typeface="Times New Roman"/>
                <a:sym typeface="Times New Roman"/>
              </a:rPr>
              <a:t>This module automatically activates the fertilizer spraying pump based on the detected disease. The system controls the pump using a controller and relay circuit to spray the required fertilizer on the affected plants.</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17</a:t>
            </a:r>
          </a:p>
        </p:txBody>
      </p:sp>
      <p:sp>
        <p:nvSpPr>
          <p:cNvPr name="TextBox 3" id="3"/>
          <p:cNvSpPr txBox="true"/>
          <p:nvPr/>
        </p:nvSpPr>
        <p:spPr>
          <a:xfrm rot="0">
            <a:off x="6877617" y="677089"/>
            <a:ext cx="3970511" cy="722628"/>
          </a:xfrm>
          <a:prstGeom prst="rect">
            <a:avLst/>
          </a:prstGeom>
        </p:spPr>
        <p:txBody>
          <a:bodyPr anchor="t" rtlCol="false" tIns="0" lIns="0" bIns="0" rIns="0">
            <a:spAutoFit/>
          </a:bodyPr>
          <a:lstStyle/>
          <a:p>
            <a:pPr algn="l">
              <a:lnSpc>
                <a:spcPts val="5876"/>
              </a:lnSpc>
            </a:pPr>
            <a:r>
              <a:rPr lang="en-US" b="true" sz="4197">
                <a:solidFill>
                  <a:srgbClr val="000000"/>
                </a:solidFill>
                <a:latin typeface="Times New Roman Bold"/>
                <a:ea typeface="Times New Roman Bold"/>
                <a:cs typeface="Times New Roman Bold"/>
                <a:sym typeface="Times New Roman Bold"/>
              </a:rPr>
              <a:t>SAMPLE CODE</a:t>
            </a:r>
          </a:p>
        </p:txBody>
      </p:sp>
      <p:sp>
        <p:nvSpPr>
          <p:cNvPr name="TextBox 4" id="4"/>
          <p:cNvSpPr txBox="true"/>
          <p:nvPr/>
        </p:nvSpPr>
        <p:spPr>
          <a:xfrm rot="0">
            <a:off x="4709546" y="1802897"/>
            <a:ext cx="4230786" cy="6625014"/>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clc clear all close all % Get The Image [FN,PN]=uigetfile('.jpg'); IM1=imread([PN FN]); figure,imshow(IM1) title('Input Image'); % pre processing % 1. Resizing IM2=imresize(IM1,[256,256]); figure,imshow(IM2) title('Resized Image');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18392" y="1823085"/>
            <a:ext cx="5514975" cy="3973254"/>
            <a:chOff x="0" y="0"/>
            <a:chExt cx="4902200" cy="3531781"/>
          </a:xfrm>
        </p:grpSpPr>
        <p:sp>
          <p:nvSpPr>
            <p:cNvPr name="Freeform 3" id="3"/>
            <p:cNvSpPr/>
            <p:nvPr/>
          </p:nvSpPr>
          <p:spPr>
            <a:xfrm flipH="false" flipV="false" rot="0">
              <a:off x="0" y="0"/>
              <a:ext cx="4902200" cy="3531743"/>
            </a:xfrm>
            <a:custGeom>
              <a:avLst/>
              <a:gdLst/>
              <a:ahLst/>
              <a:cxnLst/>
              <a:rect r="r" b="b" t="t" l="l"/>
              <a:pathLst>
                <a:path h="3531743" w="4902200">
                  <a:moveTo>
                    <a:pt x="0" y="0"/>
                  </a:moveTo>
                  <a:lnTo>
                    <a:pt x="4902200" y="0"/>
                  </a:lnTo>
                  <a:lnTo>
                    <a:pt x="4902200" y="3531743"/>
                  </a:lnTo>
                  <a:lnTo>
                    <a:pt x="0" y="3531743"/>
                  </a:lnTo>
                  <a:lnTo>
                    <a:pt x="0" y="0"/>
                  </a:lnTo>
                  <a:close/>
                </a:path>
              </a:pathLst>
            </a:custGeom>
            <a:blipFill>
              <a:blip r:embed="rId2"/>
              <a:stretch>
                <a:fillRect l="0" t="0" r="0" b="-1"/>
              </a:stretch>
            </a:blipFill>
          </p:spPr>
        </p:sp>
      </p:grpSp>
      <p:grpSp>
        <p:nvGrpSpPr>
          <p:cNvPr name="Group 4" id="4"/>
          <p:cNvGrpSpPr/>
          <p:nvPr/>
        </p:nvGrpSpPr>
        <p:grpSpPr>
          <a:xfrm rot="0">
            <a:off x="11094344" y="1676209"/>
            <a:ext cx="5775193" cy="4023360"/>
            <a:chOff x="0" y="0"/>
            <a:chExt cx="5133505" cy="3576320"/>
          </a:xfrm>
        </p:grpSpPr>
        <p:sp>
          <p:nvSpPr>
            <p:cNvPr name="Freeform 5" id="5"/>
            <p:cNvSpPr/>
            <p:nvPr/>
          </p:nvSpPr>
          <p:spPr>
            <a:xfrm flipH="false" flipV="false" rot="0">
              <a:off x="0" y="0"/>
              <a:ext cx="5133467" cy="3576320"/>
            </a:xfrm>
            <a:custGeom>
              <a:avLst/>
              <a:gdLst/>
              <a:ahLst/>
              <a:cxnLst/>
              <a:rect r="r" b="b" t="t" l="l"/>
              <a:pathLst>
                <a:path h="3576320" w="5133467">
                  <a:moveTo>
                    <a:pt x="0" y="0"/>
                  </a:moveTo>
                  <a:lnTo>
                    <a:pt x="5133467" y="0"/>
                  </a:lnTo>
                  <a:lnTo>
                    <a:pt x="5133467" y="3576320"/>
                  </a:lnTo>
                  <a:lnTo>
                    <a:pt x="0" y="3576320"/>
                  </a:lnTo>
                  <a:lnTo>
                    <a:pt x="0" y="0"/>
                  </a:lnTo>
                  <a:close/>
                </a:path>
              </a:pathLst>
            </a:custGeom>
            <a:blipFill>
              <a:blip r:embed="rId3"/>
              <a:stretch>
                <a:fillRect l="0" t="0" r="0" b="0"/>
              </a:stretch>
            </a:blipFill>
          </p:spPr>
        </p:sp>
      </p:grpSp>
      <p:grpSp>
        <p:nvGrpSpPr>
          <p:cNvPr name="Group 6" id="6"/>
          <p:cNvGrpSpPr/>
          <p:nvPr/>
        </p:nvGrpSpPr>
        <p:grpSpPr>
          <a:xfrm rot="5400000">
            <a:off x="6973986" y="5384702"/>
            <a:ext cx="3819206" cy="5359141"/>
            <a:chOff x="0" y="0"/>
            <a:chExt cx="3394850" cy="4763681"/>
          </a:xfrm>
        </p:grpSpPr>
        <p:sp>
          <p:nvSpPr>
            <p:cNvPr name="Freeform 7" id="7"/>
            <p:cNvSpPr/>
            <p:nvPr/>
          </p:nvSpPr>
          <p:spPr>
            <a:xfrm flipH="false" flipV="false" rot="0">
              <a:off x="0" y="0"/>
              <a:ext cx="3394837" cy="4763643"/>
            </a:xfrm>
            <a:custGeom>
              <a:avLst/>
              <a:gdLst/>
              <a:ahLst/>
              <a:cxnLst/>
              <a:rect r="r" b="b" t="t" l="l"/>
              <a:pathLst>
                <a:path h="4763643" w="3394837">
                  <a:moveTo>
                    <a:pt x="0" y="0"/>
                  </a:moveTo>
                  <a:lnTo>
                    <a:pt x="3394837" y="0"/>
                  </a:lnTo>
                  <a:lnTo>
                    <a:pt x="3394837" y="4763643"/>
                  </a:lnTo>
                  <a:lnTo>
                    <a:pt x="0" y="4763643"/>
                  </a:lnTo>
                  <a:lnTo>
                    <a:pt x="0" y="0"/>
                  </a:lnTo>
                  <a:close/>
                </a:path>
              </a:pathLst>
            </a:custGeom>
            <a:blipFill>
              <a:blip r:embed="rId4"/>
              <a:stretch>
                <a:fillRect l="0" t="0" r="-3" b="0"/>
              </a:stretch>
            </a:blipFill>
          </p:spPr>
        </p:sp>
      </p:grpSp>
      <p:sp>
        <p:nvSpPr>
          <p:cNvPr name="TextBox 8" id="8"/>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18</a:t>
            </a:r>
          </a:p>
        </p:txBody>
      </p:sp>
      <p:sp>
        <p:nvSpPr>
          <p:cNvPr name="TextBox 9" id="9"/>
          <p:cNvSpPr txBox="true"/>
          <p:nvPr/>
        </p:nvSpPr>
        <p:spPr>
          <a:xfrm rot="0">
            <a:off x="7139178" y="698478"/>
            <a:ext cx="4663069"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SAMPLE OUTPUT</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19</a:t>
            </a:r>
          </a:p>
        </p:txBody>
      </p:sp>
      <p:sp>
        <p:nvSpPr>
          <p:cNvPr name="TextBox 3" id="3"/>
          <p:cNvSpPr txBox="true"/>
          <p:nvPr/>
        </p:nvSpPr>
        <p:spPr>
          <a:xfrm rot="0">
            <a:off x="7341675" y="1159293"/>
            <a:ext cx="3679703"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CONCLUSION</a:t>
            </a:r>
          </a:p>
        </p:txBody>
      </p:sp>
      <p:sp>
        <p:nvSpPr>
          <p:cNvPr name="TextBox 4" id="4"/>
          <p:cNvSpPr txBox="true"/>
          <p:nvPr/>
        </p:nvSpPr>
        <p:spPr>
          <a:xfrm rot="0">
            <a:off x="1619402" y="2827058"/>
            <a:ext cx="122415" cy="471054"/>
          </a:xfrm>
          <a:prstGeom prst="rect">
            <a:avLst/>
          </a:prstGeom>
        </p:spPr>
        <p:txBody>
          <a:bodyPr anchor="t" rtlCol="false" tIns="0" lIns="0" bIns="0" rIns="0">
            <a:spAutoFit/>
          </a:bodyPr>
          <a:lstStyle/>
          <a:p>
            <a:pPr algn="l">
              <a:lnSpc>
                <a:spcPts val="3779"/>
              </a:lnSpc>
            </a:pPr>
            <a:r>
              <a:rPr lang="en-US" sz="2700">
                <a:solidFill>
                  <a:srgbClr val="000000"/>
                </a:solidFill>
                <a:latin typeface="Arial"/>
                <a:ea typeface="Arial"/>
                <a:cs typeface="Arial"/>
                <a:sym typeface="Arial"/>
              </a:rPr>
              <a:t>•</a:t>
            </a:r>
          </a:p>
        </p:txBody>
      </p:sp>
      <p:sp>
        <p:nvSpPr>
          <p:cNvPr name="TextBox 5" id="5"/>
          <p:cNvSpPr txBox="true"/>
          <p:nvPr/>
        </p:nvSpPr>
        <p:spPr>
          <a:xfrm rot="0">
            <a:off x="1619402" y="4578658"/>
            <a:ext cx="14807036" cy="1192220"/>
          </a:xfrm>
          <a:prstGeom prst="rect">
            <a:avLst/>
          </a:prstGeom>
        </p:spPr>
        <p:txBody>
          <a:bodyPr anchor="t" rtlCol="false" tIns="0" lIns="0" bIns="0" rIns="0">
            <a:spAutoFit/>
          </a:bodyPr>
          <a:lstStyle/>
          <a:p>
            <a:pPr algn="l">
              <a:lnSpc>
                <a:spcPts val="4860"/>
              </a:lnSpc>
            </a:pPr>
            <a:r>
              <a:rPr lang="en-US" sz="2700">
                <a:solidFill>
                  <a:srgbClr val="000000"/>
                </a:solidFill>
                <a:latin typeface="Times New Roman"/>
                <a:ea typeface="Times New Roman"/>
                <a:cs typeface="Times New Roman"/>
                <a:sym typeface="Times New Roman"/>
              </a:rPr>
              <a:t>• The developed method provides accurate identification of different leaf diseases and suggests appropriate fertilizer for treatment. This helps farmers take timely action and improve crop productivity.</a:t>
            </a:r>
          </a:p>
        </p:txBody>
      </p:sp>
      <p:sp>
        <p:nvSpPr>
          <p:cNvPr name="TextBox 6" id="6"/>
          <p:cNvSpPr txBox="true"/>
          <p:nvPr/>
        </p:nvSpPr>
        <p:spPr>
          <a:xfrm rot="0">
            <a:off x="16253846" y="4683433"/>
            <a:ext cx="511807" cy="470225"/>
          </a:xfrm>
          <a:prstGeom prst="rect">
            <a:avLst/>
          </a:prstGeom>
        </p:spPr>
        <p:txBody>
          <a:bodyPr anchor="t" rtlCol="false" tIns="0" lIns="0" bIns="0" rIns="0">
            <a:spAutoFit/>
          </a:bodyPr>
          <a:lstStyle/>
          <a:p>
            <a:pPr algn="l">
              <a:lnSpc>
                <a:spcPts val="3779"/>
              </a:lnSpc>
            </a:pPr>
            <a:r>
              <a:rPr lang="en-US" sz="2700">
                <a:solidFill>
                  <a:srgbClr val="000000"/>
                </a:solidFill>
                <a:latin typeface="Times New Roman"/>
                <a:ea typeface="Times New Roman"/>
                <a:cs typeface="Times New Roman"/>
                <a:sym typeface="Times New Roman"/>
              </a:rPr>
              <a:t>the </a:t>
            </a:r>
          </a:p>
        </p:txBody>
      </p:sp>
      <p:sp>
        <p:nvSpPr>
          <p:cNvPr name="TextBox 7" id="7"/>
          <p:cNvSpPr txBox="true"/>
          <p:nvPr/>
        </p:nvSpPr>
        <p:spPr>
          <a:xfrm rot="0">
            <a:off x="2049213" y="2726426"/>
            <a:ext cx="15000532" cy="1192220"/>
          </a:xfrm>
          <a:prstGeom prst="rect">
            <a:avLst/>
          </a:prstGeom>
        </p:spPr>
        <p:txBody>
          <a:bodyPr anchor="t" rtlCol="false" tIns="0" lIns="0" bIns="0" rIns="0">
            <a:spAutoFit/>
          </a:bodyPr>
          <a:lstStyle/>
          <a:p>
            <a:pPr algn="l">
              <a:lnSpc>
                <a:spcPts val="4860"/>
              </a:lnSpc>
            </a:pPr>
            <a:r>
              <a:rPr lang="en-US" sz="2700">
                <a:solidFill>
                  <a:srgbClr val="000000"/>
                </a:solidFill>
                <a:latin typeface="Times New Roman"/>
                <a:ea typeface="Times New Roman"/>
                <a:cs typeface="Times New Roman"/>
                <a:sym typeface="Times New Roman"/>
              </a:rPr>
              <a:t>The proposed system effectively detects plant leaf diseases at an early stage using image processing techniques. Early detection helps prevent the spread of disease and protects the overall health of the plant.</a:t>
            </a:r>
          </a:p>
        </p:txBody>
      </p:sp>
      <p:sp>
        <p:nvSpPr>
          <p:cNvPr name="TextBox 8" id="8"/>
          <p:cNvSpPr txBox="true"/>
          <p:nvPr/>
        </p:nvSpPr>
        <p:spPr>
          <a:xfrm rot="0">
            <a:off x="1619402" y="6430704"/>
            <a:ext cx="15438944" cy="1809440"/>
          </a:xfrm>
          <a:prstGeom prst="rect">
            <a:avLst/>
          </a:prstGeom>
        </p:spPr>
        <p:txBody>
          <a:bodyPr anchor="t" rtlCol="false" tIns="0" lIns="0" bIns="0" rIns="0">
            <a:spAutoFit/>
          </a:bodyPr>
          <a:lstStyle/>
          <a:p>
            <a:pPr algn="just">
              <a:lnSpc>
                <a:spcPts val="4860"/>
              </a:lnSpc>
            </a:pPr>
            <a:r>
              <a:rPr lang="en-US" sz="2700" spc="24">
                <a:solidFill>
                  <a:srgbClr val="000000"/>
                </a:solidFill>
                <a:latin typeface="Times New Roman"/>
                <a:ea typeface="Times New Roman"/>
                <a:cs typeface="Times New Roman"/>
                <a:sym typeface="Times New Roman"/>
              </a:rPr>
              <a:t>• The use of image processing, feature extraction, and classification techniques improves the efficiency and reliability of the system. As a result, the system provides better disease detection and supports smart agricultural practices.</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60368" y="9622698"/>
            <a:ext cx="237373" cy="339619"/>
          </a:xfrm>
          <a:prstGeom prst="rect">
            <a:avLst/>
          </a:prstGeom>
        </p:spPr>
        <p:txBody>
          <a:bodyPr anchor="t" rtlCol="false" tIns="0" lIns="0" bIns="0" rIns="0">
            <a:spAutoFit/>
          </a:bodyPr>
          <a:lstStyle/>
          <a:p>
            <a:pPr algn="l">
              <a:lnSpc>
                <a:spcPts val="2525"/>
              </a:lnSpc>
            </a:pPr>
            <a:r>
              <a:rPr lang="en-US" sz="1803" spc="3">
                <a:solidFill>
                  <a:srgbClr val="FFFFFF"/>
                </a:solidFill>
                <a:latin typeface="Calibri (MS)"/>
                <a:ea typeface="Calibri (MS)"/>
                <a:cs typeface="Calibri (MS)"/>
                <a:sym typeface="Calibri (MS)"/>
              </a:rPr>
              <a:t>20</a:t>
            </a:r>
          </a:p>
        </p:txBody>
      </p:sp>
      <p:sp>
        <p:nvSpPr>
          <p:cNvPr name="TextBox 3" id="3"/>
          <p:cNvSpPr txBox="true"/>
          <p:nvPr/>
        </p:nvSpPr>
        <p:spPr>
          <a:xfrm rot="0">
            <a:off x="1619402" y="2721659"/>
            <a:ext cx="15438944" cy="4842858"/>
          </a:xfrm>
          <a:prstGeom prst="rect">
            <a:avLst/>
          </a:prstGeom>
        </p:spPr>
        <p:txBody>
          <a:bodyPr anchor="t" rtlCol="false" tIns="0" lIns="0" bIns="0" rIns="0">
            <a:spAutoFit/>
          </a:bodyPr>
          <a:lstStyle/>
          <a:p>
            <a:pPr algn="l">
              <a:lnSpc>
                <a:spcPts val="6480"/>
              </a:lnSpc>
            </a:pPr>
            <a:r>
              <a:rPr lang="en-US" sz="2700" spc="40">
                <a:solidFill>
                  <a:srgbClr val="000000"/>
                </a:solidFill>
                <a:latin typeface="Times New Roman"/>
                <a:ea typeface="Times New Roman"/>
                <a:cs typeface="Times New Roman"/>
                <a:sym typeface="Times New Roman"/>
              </a:rPr>
              <a:t>In the future, the system can be improved by integrating </a:t>
            </a:r>
            <a:r>
              <a:rPr lang="en-US" b="true" sz="2700" i="true" spc="40">
                <a:solidFill>
                  <a:srgbClr val="000000"/>
                </a:solidFill>
                <a:latin typeface="Times New Roman Bold Italics"/>
                <a:ea typeface="Times New Roman Bold Italics"/>
                <a:cs typeface="Times New Roman Bold Italics"/>
                <a:sym typeface="Times New Roman Bold Italics"/>
              </a:rPr>
              <a:t>IoT technology</a:t>
            </a:r>
            <a:r>
              <a:rPr lang="en-US" sz="2700" spc="40">
                <a:solidFill>
                  <a:srgbClr val="000000"/>
                </a:solidFill>
                <a:latin typeface="Times New Roman"/>
                <a:ea typeface="Times New Roman"/>
                <a:cs typeface="Times New Roman"/>
                <a:sym typeface="Times New Roman"/>
              </a:rPr>
              <a:t> to monitor plant health remotely through mobile or web applications. This will allow farmers to receive real-time alerts about plant diseases. • Advanced </a:t>
            </a:r>
            <a:r>
              <a:rPr lang="en-US" b="true" sz="2700" i="true" spc="40">
                <a:solidFill>
                  <a:srgbClr val="000000"/>
                </a:solidFill>
                <a:latin typeface="Times New Roman Bold Italics"/>
                <a:ea typeface="Times New Roman Bold Italics"/>
                <a:cs typeface="Times New Roman Bold Italics"/>
                <a:sym typeface="Times New Roman Bold Italics"/>
              </a:rPr>
              <a:t>machine learning and deep learning algorithms</a:t>
            </a:r>
            <a:r>
              <a:rPr lang="en-US" sz="2700" spc="40">
                <a:solidFill>
                  <a:srgbClr val="000000"/>
                </a:solidFill>
                <a:latin typeface="Times New Roman"/>
                <a:ea typeface="Times New Roman"/>
                <a:cs typeface="Times New Roman"/>
                <a:sym typeface="Times New Roman"/>
              </a:rPr>
              <a:t> can be used to increase the accuracy of disease detection and support identification of a larger number of plant diseases. • The system can also be expanded to control </a:t>
            </a:r>
            <a:r>
              <a:rPr lang="en-US" b="true" sz="2700" i="true" spc="40">
                <a:solidFill>
                  <a:srgbClr val="000000"/>
                </a:solidFill>
                <a:latin typeface="Times New Roman Bold Italics"/>
                <a:ea typeface="Times New Roman Bold Italics"/>
                <a:cs typeface="Times New Roman Bold Italics"/>
                <a:sym typeface="Times New Roman Bold Italics"/>
              </a:rPr>
              <a:t>automatic irrigation and fertilizer management</a:t>
            </a:r>
            <a:r>
              <a:rPr lang="en-US" sz="2700" spc="40">
                <a:solidFill>
                  <a:srgbClr val="000000"/>
                </a:solidFill>
                <a:latin typeface="Times New Roman"/>
                <a:ea typeface="Times New Roman"/>
                <a:cs typeface="Times New Roman"/>
                <a:sym typeface="Times New Roman"/>
              </a:rPr>
              <a:t>, making it a </a:t>
            </a:r>
          </a:p>
          <a:p>
            <a:pPr algn="l">
              <a:lnSpc>
                <a:spcPts val="3785"/>
              </a:lnSpc>
            </a:pPr>
            <a:r>
              <a:rPr lang="en-US" sz="2703">
                <a:solidFill>
                  <a:srgbClr val="000000"/>
                </a:solidFill>
                <a:latin typeface="Times New Roman"/>
                <a:ea typeface="Times New Roman"/>
                <a:cs typeface="Times New Roman"/>
                <a:sym typeface="Times New Roman"/>
              </a:rPr>
              <a:t>complete smart agriculture solution for improving crop productivity.</a:t>
            </a:r>
          </a:p>
        </p:txBody>
      </p:sp>
      <p:sp>
        <p:nvSpPr>
          <p:cNvPr name="TextBox 4" id="4"/>
          <p:cNvSpPr txBox="true"/>
          <p:nvPr/>
        </p:nvSpPr>
        <p:spPr>
          <a:xfrm rot="0">
            <a:off x="5854060" y="1253019"/>
            <a:ext cx="6715125"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FUTURE</a:t>
            </a:r>
            <a:r>
              <a:rPr lang="en-US" b="true" sz="4193">
                <a:solidFill>
                  <a:srgbClr val="FFFF00"/>
                </a:solidFill>
                <a:latin typeface="Times New Roman Bold"/>
                <a:ea typeface="Times New Roman Bold"/>
                <a:cs typeface="Times New Roman Bold"/>
                <a:sym typeface="Times New Roman Bold"/>
              </a:rPr>
              <a:t> </a:t>
            </a:r>
            <a:r>
              <a:rPr lang="en-US" b="true" sz="4193">
                <a:solidFill>
                  <a:srgbClr val="000000"/>
                </a:solidFill>
                <a:latin typeface="Times New Roman Bold"/>
                <a:ea typeface="Times New Roman Bold"/>
                <a:cs typeface="Times New Roman Bold"/>
                <a:sym typeface="Times New Roman Bold"/>
              </a:rPr>
              <a:t>ENHANCEMENT</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357305" y="605695"/>
            <a:ext cx="3783016" cy="722085"/>
          </a:xfrm>
          <a:prstGeom prst="rect">
            <a:avLst/>
          </a:prstGeom>
        </p:spPr>
        <p:txBody>
          <a:bodyPr anchor="t" rtlCol="false" tIns="0" lIns="0" bIns="0" rIns="0">
            <a:spAutoFit/>
          </a:bodyPr>
          <a:lstStyle/>
          <a:p>
            <a:pPr algn="l">
              <a:lnSpc>
                <a:spcPts val="5871"/>
              </a:lnSpc>
            </a:pPr>
            <a:r>
              <a:rPr lang="en-US" b="true" sz="4193">
                <a:solidFill>
                  <a:srgbClr val="000000"/>
                </a:solidFill>
                <a:latin typeface="Times New Roman Bold"/>
                <a:ea typeface="Times New Roman Bold"/>
                <a:cs typeface="Times New Roman Bold"/>
                <a:sym typeface="Times New Roman Bold"/>
              </a:rPr>
              <a:t>REFERENCES</a:t>
            </a:r>
            <a:r>
              <a:rPr lang="en-US" b="true" sz="4193">
                <a:solidFill>
                  <a:srgbClr val="FFFF00"/>
                </a:solidFill>
                <a:latin typeface="Times New Roman Bold"/>
                <a:ea typeface="Times New Roman Bold"/>
                <a:cs typeface="Times New Roman Bold"/>
                <a:sym typeface="Times New Roman Bold"/>
              </a:rPr>
              <a:t> </a:t>
            </a:r>
          </a:p>
        </p:txBody>
      </p:sp>
      <p:sp>
        <p:nvSpPr>
          <p:cNvPr name="TextBox 3" id="3"/>
          <p:cNvSpPr txBox="true"/>
          <p:nvPr/>
        </p:nvSpPr>
        <p:spPr>
          <a:xfrm rot="0">
            <a:off x="17403704" y="9585293"/>
            <a:ext cx="313453" cy="454419"/>
          </a:xfrm>
          <a:prstGeom prst="rect">
            <a:avLst/>
          </a:prstGeom>
        </p:spPr>
        <p:txBody>
          <a:bodyPr anchor="t" rtlCol="false" tIns="0" lIns="0" bIns="0" rIns="0">
            <a:spAutoFit/>
          </a:bodyPr>
          <a:lstStyle/>
          <a:p>
            <a:pPr algn="l">
              <a:lnSpc>
                <a:spcPts val="3351"/>
              </a:lnSpc>
            </a:pPr>
            <a:r>
              <a:rPr lang="en-US" sz="2394">
                <a:solidFill>
                  <a:srgbClr val="FFFFFF"/>
                </a:solidFill>
                <a:latin typeface="Calibri (MS)"/>
                <a:ea typeface="Calibri (MS)"/>
                <a:cs typeface="Calibri (MS)"/>
                <a:sym typeface="Calibri (MS)"/>
              </a:rPr>
              <a:t>21</a:t>
            </a:r>
          </a:p>
        </p:txBody>
      </p:sp>
      <p:sp>
        <p:nvSpPr>
          <p:cNvPr name="TextBox 4" id="4"/>
          <p:cNvSpPr txBox="true"/>
          <p:nvPr/>
        </p:nvSpPr>
        <p:spPr>
          <a:xfrm rot="0">
            <a:off x="984352" y="7356334"/>
            <a:ext cx="12017931" cy="2009423"/>
          </a:xfrm>
          <a:prstGeom prst="rect">
            <a:avLst/>
          </a:prstGeom>
        </p:spPr>
        <p:txBody>
          <a:bodyPr anchor="t" rtlCol="false" tIns="0" lIns="0" bIns="0" rIns="0">
            <a:spAutoFit/>
          </a:bodyPr>
          <a:lstStyle/>
          <a:p>
            <a:pPr algn="l">
              <a:lnSpc>
                <a:spcPts val="5759"/>
              </a:lnSpc>
            </a:pPr>
            <a:r>
              <a:rPr lang="en-US" sz="2700">
                <a:solidFill>
                  <a:srgbClr val="000000"/>
                </a:solidFill>
                <a:latin typeface="Times New Roman"/>
                <a:ea typeface="Times New Roman"/>
                <a:cs typeface="Times New Roman"/>
                <a:sym typeface="Times New Roman"/>
              </a:rPr>
              <a:t>290, 2019. [5] A. Kamilaris and F. X. Prenafeta-Boldú, “Deep learning in agriculture: A survey,” </a:t>
            </a:r>
          </a:p>
          <a:p>
            <a:pPr algn="l">
              <a:lnSpc>
                <a:spcPts val="3960"/>
              </a:lnSpc>
            </a:pPr>
            <a:r>
              <a:rPr lang="en-US" sz="2700" i="true">
                <a:solidFill>
                  <a:srgbClr val="000000"/>
                </a:solidFill>
                <a:latin typeface="Times New Roman Italics"/>
                <a:ea typeface="Times New Roman Italics"/>
                <a:cs typeface="Times New Roman Italics"/>
                <a:sym typeface="Times New Roman Italics"/>
              </a:rPr>
              <a:t>Agriculture</a:t>
            </a:r>
            <a:r>
              <a:rPr lang="en-US" sz="2700">
                <a:solidFill>
                  <a:srgbClr val="000000"/>
                </a:solidFill>
                <a:latin typeface="Times New Roman"/>
                <a:ea typeface="Times New Roman"/>
                <a:cs typeface="Times New Roman"/>
                <a:sym typeface="Times New Roman"/>
              </a:rPr>
              <a:t>, vol. 147, pp. 70–90, 2018. </a:t>
            </a:r>
          </a:p>
        </p:txBody>
      </p:sp>
      <p:sp>
        <p:nvSpPr>
          <p:cNvPr name="TextBox 5" id="5"/>
          <p:cNvSpPr txBox="true"/>
          <p:nvPr/>
        </p:nvSpPr>
        <p:spPr>
          <a:xfrm rot="0">
            <a:off x="984352" y="1647625"/>
            <a:ext cx="16373032" cy="470225"/>
          </a:xfrm>
          <a:prstGeom prst="rect">
            <a:avLst/>
          </a:prstGeom>
        </p:spPr>
        <p:txBody>
          <a:bodyPr anchor="t" rtlCol="false" tIns="0" lIns="0" bIns="0" rIns="0">
            <a:spAutoFit/>
          </a:bodyPr>
          <a:lstStyle/>
          <a:p>
            <a:pPr algn="l">
              <a:lnSpc>
                <a:spcPts val="3779"/>
              </a:lnSpc>
            </a:pPr>
            <a:r>
              <a:rPr lang="en-US" sz="2700">
                <a:solidFill>
                  <a:srgbClr val="000000"/>
                </a:solidFill>
                <a:latin typeface="Times New Roman"/>
                <a:ea typeface="Times New Roman"/>
                <a:cs typeface="Times New Roman"/>
                <a:sym typeface="Times New Roman"/>
              </a:rPr>
              <a:t>[[1] S. P. Mohanty, D. P. Hughes, and M. Salathé, “Using Deep Learning for Image-Based Plant Disease Detection,” </a:t>
            </a:r>
          </a:p>
        </p:txBody>
      </p:sp>
      <p:sp>
        <p:nvSpPr>
          <p:cNvPr name="TextBox 6" id="6"/>
          <p:cNvSpPr txBox="true"/>
          <p:nvPr/>
        </p:nvSpPr>
        <p:spPr>
          <a:xfrm rot="0">
            <a:off x="984352" y="2891976"/>
            <a:ext cx="16667798" cy="3890072"/>
          </a:xfrm>
          <a:prstGeom prst="rect">
            <a:avLst/>
          </a:prstGeom>
        </p:spPr>
        <p:txBody>
          <a:bodyPr anchor="t" rtlCol="false" tIns="0" lIns="0" bIns="0" rIns="0">
            <a:spAutoFit/>
          </a:bodyPr>
          <a:lstStyle/>
          <a:p>
            <a:pPr algn="l">
              <a:lnSpc>
                <a:spcPts val="4860"/>
              </a:lnSpc>
            </a:pPr>
            <a:r>
              <a:rPr lang="en-US" sz="2700">
                <a:solidFill>
                  <a:srgbClr val="000000"/>
                </a:solidFill>
                <a:latin typeface="Times New Roman"/>
                <a:ea typeface="Times New Roman"/>
                <a:cs typeface="Times New Roman"/>
                <a:sym typeface="Times New Roman"/>
              </a:rPr>
              <a:t>[2] K. P. Ferentinos, “Deep learning models for plant disease detection and diagnosis,” </a:t>
            </a:r>
            <a:r>
              <a:rPr lang="en-US" sz="2700" i="true">
                <a:solidFill>
                  <a:srgbClr val="000000"/>
                </a:solidFill>
                <a:latin typeface="Times New Roman Italics"/>
                <a:ea typeface="Times New Roman Italics"/>
                <a:cs typeface="Times New Roman Italics"/>
                <a:sym typeface="Times New Roman Italics"/>
              </a:rPr>
              <a:t>Computers and Electronics in Agriculture</a:t>
            </a:r>
            <a:r>
              <a:rPr lang="en-US" sz="2700">
                <a:solidFill>
                  <a:srgbClr val="000000"/>
                </a:solidFill>
                <a:latin typeface="Times New Roman"/>
                <a:ea typeface="Times New Roman"/>
                <a:cs typeface="Times New Roman"/>
                <a:sym typeface="Times New Roman"/>
              </a:rPr>
              <a:t>, vol. 145, pp. 311–318, 2018. </a:t>
            </a:r>
          </a:p>
          <a:p>
            <a:pPr algn="l">
              <a:lnSpc>
                <a:spcPts val="6660"/>
              </a:lnSpc>
            </a:pPr>
            <a:r>
              <a:rPr lang="en-US" sz="2700">
                <a:solidFill>
                  <a:srgbClr val="000000"/>
                </a:solidFill>
                <a:latin typeface="Times New Roman"/>
                <a:ea typeface="Times New Roman"/>
                <a:cs typeface="Times New Roman"/>
                <a:sym typeface="Times New Roman"/>
              </a:rPr>
              <a:t>[3] S. Sladojevic, M. Arsenovic, A. Anderla, D. Culibrk, and D. Stefanovic, “Deep Neural Networks Based </a:t>
            </a:r>
          </a:p>
          <a:p>
            <a:pPr algn="l">
              <a:lnSpc>
                <a:spcPts val="3067"/>
              </a:lnSpc>
            </a:pPr>
            <a:r>
              <a:rPr lang="en-US" sz="2700">
                <a:solidFill>
                  <a:srgbClr val="000000"/>
                </a:solidFill>
                <a:latin typeface="Times New Roman"/>
                <a:ea typeface="Times New Roman"/>
                <a:cs typeface="Times New Roman"/>
                <a:sym typeface="Times New Roman"/>
              </a:rPr>
              <a:t>Recognition of Plant Diseases by Leaf Image Classification,” </a:t>
            </a:r>
            <a:r>
              <a:rPr lang="en-US" sz="2700" i="true">
                <a:solidFill>
                  <a:srgbClr val="000000"/>
                </a:solidFill>
                <a:latin typeface="Times New Roman Italics"/>
                <a:ea typeface="Times New Roman Italics"/>
                <a:cs typeface="Times New Roman Italics"/>
                <a:sym typeface="Times New Roman Italics"/>
              </a:rPr>
              <a:t>Computational Intelligence and Neuroscience</a:t>
            </a:r>
            <a:r>
              <a:rPr lang="en-US" sz="2700">
                <a:solidFill>
                  <a:srgbClr val="000000"/>
                </a:solidFill>
                <a:latin typeface="Times New Roman"/>
                <a:ea typeface="Times New Roman"/>
                <a:cs typeface="Times New Roman"/>
                <a:sym typeface="Times New Roman"/>
              </a:rPr>
              <a:t>, pp. 1–11, </a:t>
            </a:r>
          </a:p>
          <a:p>
            <a:pPr algn="l">
              <a:lnSpc>
                <a:spcPts val="6652"/>
              </a:lnSpc>
            </a:pPr>
            <a:r>
              <a:rPr lang="en-US" sz="2700">
                <a:solidFill>
                  <a:srgbClr val="000000"/>
                </a:solidFill>
                <a:latin typeface="Times New Roman"/>
                <a:ea typeface="Times New Roman"/>
                <a:cs typeface="Times New Roman"/>
                <a:sym typeface="Times New Roman"/>
              </a:rPr>
              <a:t>2016. </a:t>
            </a:r>
          </a:p>
          <a:p>
            <a:pPr algn="l">
              <a:lnSpc>
                <a:spcPts val="4865"/>
              </a:lnSpc>
            </a:pPr>
            <a:r>
              <a:rPr lang="en-US" sz="2700">
                <a:solidFill>
                  <a:srgbClr val="000000"/>
                </a:solidFill>
                <a:latin typeface="Times New Roman"/>
                <a:ea typeface="Times New Roman"/>
                <a:cs typeface="Times New Roman"/>
                <a:sym typeface="Times New Roman"/>
              </a:rPr>
              <a:t>[4] P. Picon, A. Bereciartua, A. Alvarez-Gila, et al., “Deep Convolutional Neural Networks for Mobile Capture </a:t>
            </a:r>
          </a:p>
        </p:txBody>
      </p:sp>
      <p:sp>
        <p:nvSpPr>
          <p:cNvPr name="TextBox 7" id="7"/>
          <p:cNvSpPr txBox="true"/>
          <p:nvPr/>
        </p:nvSpPr>
        <p:spPr>
          <a:xfrm rot="0">
            <a:off x="984352" y="2264416"/>
            <a:ext cx="3848110" cy="470754"/>
          </a:xfrm>
          <a:prstGeom prst="rect">
            <a:avLst/>
          </a:prstGeom>
        </p:spPr>
        <p:txBody>
          <a:bodyPr anchor="t" rtlCol="false" tIns="0" lIns="0" bIns="0" rIns="0">
            <a:spAutoFit/>
          </a:bodyPr>
          <a:lstStyle/>
          <a:p>
            <a:pPr algn="l">
              <a:lnSpc>
                <a:spcPts val="3785"/>
              </a:lnSpc>
            </a:pPr>
            <a:r>
              <a:rPr lang="en-US" sz="2703" i="true">
                <a:solidFill>
                  <a:srgbClr val="000000"/>
                </a:solidFill>
                <a:latin typeface="Times New Roman Italics"/>
                <a:ea typeface="Times New Roman Italics"/>
                <a:cs typeface="Times New Roman Italics"/>
                <a:sym typeface="Times New Roman Italics"/>
              </a:rPr>
              <a:t>Frontiers in Plant Science</a:t>
            </a:r>
            <a:r>
              <a:rPr lang="en-US" sz="2703">
                <a:solidFill>
                  <a:srgbClr val="000000"/>
                </a:solidFill>
                <a:latin typeface="Times New Roman"/>
                <a:ea typeface="Times New Roman"/>
                <a:cs typeface="Times New Roman"/>
                <a:sym typeface="Times New Roman"/>
              </a:rPr>
              <a:t> </a:t>
            </a:r>
          </a:p>
        </p:txBody>
      </p:sp>
      <p:sp>
        <p:nvSpPr>
          <p:cNvPr name="TextBox 8" id="8"/>
          <p:cNvSpPr txBox="true"/>
          <p:nvPr/>
        </p:nvSpPr>
        <p:spPr>
          <a:xfrm rot="0">
            <a:off x="8651396" y="6928628"/>
            <a:ext cx="6120765"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 </a:t>
            </a:r>
            <a:r>
              <a:rPr lang="en-US" sz="2703" i="true">
                <a:solidFill>
                  <a:srgbClr val="000000"/>
                </a:solidFill>
                <a:latin typeface="Times New Roman Italics"/>
                <a:ea typeface="Times New Roman Italics"/>
                <a:cs typeface="Times New Roman Italics"/>
                <a:sym typeface="Times New Roman Italics"/>
              </a:rPr>
              <a:t>Computers and Electronics in Agriculture</a:t>
            </a:r>
            <a:r>
              <a:rPr lang="en-US" sz="2703">
                <a:solidFill>
                  <a:srgbClr val="000000"/>
                </a:solidFill>
                <a:latin typeface="Times New Roman"/>
                <a:ea typeface="Times New Roman"/>
                <a:cs typeface="Times New Roman"/>
                <a:sym typeface="Times New Roman"/>
              </a:rPr>
              <a:t> </a:t>
            </a:r>
          </a:p>
        </p:txBody>
      </p:sp>
      <p:sp>
        <p:nvSpPr>
          <p:cNvPr name="TextBox 9" id="9"/>
          <p:cNvSpPr txBox="true"/>
          <p:nvPr/>
        </p:nvSpPr>
        <p:spPr>
          <a:xfrm rot="0">
            <a:off x="4585330" y="2264416"/>
            <a:ext cx="3417170"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,vol. 7, pp. 1–10, 2016. </a:t>
            </a:r>
          </a:p>
        </p:txBody>
      </p:sp>
      <p:sp>
        <p:nvSpPr>
          <p:cNvPr name="TextBox 10" id="10"/>
          <p:cNvSpPr txBox="true"/>
          <p:nvPr/>
        </p:nvSpPr>
        <p:spPr>
          <a:xfrm rot="0">
            <a:off x="984352" y="6928628"/>
            <a:ext cx="7819334"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Device-Based Crop Disease Classification in the Wild,”</a:t>
            </a:r>
          </a:p>
        </p:txBody>
      </p:sp>
      <p:sp>
        <p:nvSpPr>
          <p:cNvPr name="TextBox 11" id="11"/>
          <p:cNvSpPr txBox="true"/>
          <p:nvPr/>
        </p:nvSpPr>
        <p:spPr>
          <a:xfrm rot="0">
            <a:off x="14480481" y="6928628"/>
            <a:ext cx="2719411" cy="470754"/>
          </a:xfrm>
          <a:prstGeom prst="rect">
            <a:avLst/>
          </a:prstGeom>
        </p:spPr>
        <p:txBody>
          <a:bodyPr anchor="t" rtlCol="false" tIns="0" lIns="0" bIns="0" rIns="0">
            <a:spAutoFit/>
          </a:bodyPr>
          <a:lstStyle/>
          <a:p>
            <a:pPr algn="l">
              <a:lnSpc>
                <a:spcPts val="3785"/>
              </a:lnSpc>
            </a:pPr>
            <a:r>
              <a:rPr lang="en-US" sz="2703">
                <a:solidFill>
                  <a:srgbClr val="000000"/>
                </a:solidFill>
                <a:latin typeface="Times New Roman"/>
                <a:ea typeface="Times New Roman"/>
                <a:cs typeface="Times New Roman"/>
                <a:sym typeface="Times New Roman"/>
              </a:rPr>
              <a:t>,vol. 161, pp. 280–</a:t>
            </a:r>
          </a:p>
        </p:txBody>
      </p:sp>
      <p:sp>
        <p:nvSpPr>
          <p:cNvPr name="TextBox 12" id="12"/>
          <p:cNvSpPr txBox="true"/>
          <p:nvPr/>
        </p:nvSpPr>
        <p:spPr>
          <a:xfrm rot="0">
            <a:off x="12765981" y="8278325"/>
            <a:ext cx="4261461" cy="470225"/>
          </a:xfrm>
          <a:prstGeom prst="rect">
            <a:avLst/>
          </a:prstGeom>
        </p:spPr>
        <p:txBody>
          <a:bodyPr anchor="t" rtlCol="false" tIns="0" lIns="0" bIns="0" rIns="0">
            <a:spAutoFit/>
          </a:bodyPr>
          <a:lstStyle/>
          <a:p>
            <a:pPr algn="l">
              <a:lnSpc>
                <a:spcPts val="3779"/>
              </a:lnSpc>
            </a:pPr>
            <a:r>
              <a:rPr lang="en-US" sz="2700" i="true">
                <a:solidFill>
                  <a:srgbClr val="000000"/>
                </a:solidFill>
                <a:latin typeface="Times New Roman Italics"/>
                <a:ea typeface="Times New Roman Italics"/>
                <a:cs typeface="Times New Roman Italics"/>
                <a:sym typeface="Times New Roman Italics"/>
              </a:rPr>
              <a:t>Computers and Electronics in </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26998" y="1808412"/>
            <a:ext cx="16144175" cy="6588509"/>
          </a:xfrm>
          <a:prstGeom prst="rect">
            <a:avLst/>
          </a:prstGeom>
        </p:spPr>
        <p:txBody>
          <a:bodyPr anchor="t" rtlCol="false" tIns="0" lIns="0" bIns="0" rIns="0">
            <a:spAutoFit/>
          </a:bodyPr>
          <a:lstStyle/>
          <a:p>
            <a:pPr algn="l">
              <a:lnSpc>
                <a:spcPts val="4862"/>
              </a:lnSpc>
            </a:pPr>
            <a:r>
              <a:rPr lang="en-US" sz="2700">
                <a:solidFill>
                  <a:srgbClr val="000000"/>
                </a:solidFill>
                <a:latin typeface="Times New Roman"/>
                <a:ea typeface="Times New Roman"/>
                <a:cs typeface="Times New Roman"/>
                <a:sym typeface="Times New Roman"/>
              </a:rPr>
              <a:t>[6] J. Too, L. Yujian, S. Njuki, and L. Yingchun, “A comparative study of fine-tuning deep learning models for plant disease identification,” </a:t>
            </a:r>
            <a:r>
              <a:rPr lang="en-US" sz="2700" i="true">
                <a:solidFill>
                  <a:srgbClr val="000000"/>
                </a:solidFill>
                <a:latin typeface="Times New Roman Italics"/>
                <a:ea typeface="Times New Roman Italics"/>
                <a:cs typeface="Times New Roman Italics"/>
                <a:sym typeface="Times New Roman Italics"/>
              </a:rPr>
              <a:t>Computers and Electronics in Agriculture</a:t>
            </a:r>
            <a:r>
              <a:rPr lang="en-US" sz="2700">
                <a:solidFill>
                  <a:srgbClr val="000000"/>
                </a:solidFill>
                <a:latin typeface="Times New Roman"/>
                <a:ea typeface="Times New Roman"/>
                <a:cs typeface="Times New Roman"/>
                <a:sym typeface="Times New Roman"/>
              </a:rPr>
              <a:t>, vol. 161, pp. 272–279, 2019. </a:t>
            </a:r>
          </a:p>
          <a:p>
            <a:pPr algn="l">
              <a:lnSpc>
                <a:spcPts val="6658"/>
              </a:lnSpc>
            </a:pPr>
            <a:r>
              <a:rPr lang="en-US" sz="2700">
                <a:solidFill>
                  <a:srgbClr val="000000"/>
                </a:solidFill>
                <a:latin typeface="Times New Roman"/>
                <a:ea typeface="Times New Roman"/>
                <a:cs typeface="Times New Roman"/>
                <a:sym typeface="Times New Roman"/>
              </a:rPr>
              <a:t>[7] H. Durmuş, E. O. Güneş, and M. Kırcı, “Disease detection on the leaves of the tomato plants by using deep </a:t>
            </a:r>
          </a:p>
          <a:p>
            <a:pPr algn="l">
              <a:lnSpc>
                <a:spcPts val="3061"/>
              </a:lnSpc>
            </a:pPr>
            <a:r>
              <a:rPr lang="en-US" sz="2700">
                <a:solidFill>
                  <a:srgbClr val="000000"/>
                </a:solidFill>
                <a:latin typeface="Times New Roman"/>
                <a:ea typeface="Times New Roman"/>
                <a:cs typeface="Times New Roman"/>
                <a:sym typeface="Times New Roman"/>
              </a:rPr>
              <a:t>learning,” </a:t>
            </a:r>
            <a:r>
              <a:rPr lang="en-US" sz="2700" i="true">
                <a:solidFill>
                  <a:srgbClr val="000000"/>
                </a:solidFill>
                <a:latin typeface="Times New Roman Italics"/>
                <a:ea typeface="Times New Roman Italics"/>
                <a:cs typeface="Times New Roman Italics"/>
                <a:sym typeface="Times New Roman Italics"/>
              </a:rPr>
              <a:t>International Conference on Agro-Geoinformatics</a:t>
            </a:r>
            <a:r>
              <a:rPr lang="en-US" sz="2700">
                <a:solidFill>
                  <a:srgbClr val="000000"/>
                </a:solidFill>
                <a:latin typeface="Times New Roman"/>
                <a:ea typeface="Times New Roman"/>
                <a:cs typeface="Times New Roman"/>
                <a:sym typeface="Times New Roman"/>
              </a:rPr>
              <a:t>, pp. 1–5, 2017. </a:t>
            </a:r>
          </a:p>
          <a:p>
            <a:pPr algn="l">
              <a:lnSpc>
                <a:spcPts val="6750"/>
              </a:lnSpc>
            </a:pPr>
            <a:r>
              <a:rPr lang="en-US" sz="2700">
                <a:solidFill>
                  <a:srgbClr val="000000"/>
                </a:solidFill>
                <a:latin typeface="Times New Roman"/>
                <a:ea typeface="Times New Roman"/>
                <a:cs typeface="Times New Roman"/>
                <a:sym typeface="Times New Roman"/>
              </a:rPr>
              <a:t>[8] R. P. Pooja and S. K. Bhatia, “IoT Based Smart Agriculture Monitoring System,” </a:t>
            </a:r>
            <a:r>
              <a:rPr lang="en-US" sz="2700" i="true">
                <a:solidFill>
                  <a:srgbClr val="000000"/>
                </a:solidFill>
                <a:latin typeface="Times New Roman Italics"/>
                <a:ea typeface="Times New Roman Italics"/>
                <a:cs typeface="Times New Roman Italics"/>
                <a:sym typeface="Times New Roman Italics"/>
              </a:rPr>
              <a:t>International Journal of </a:t>
            </a:r>
          </a:p>
          <a:p>
            <a:pPr algn="l">
              <a:lnSpc>
                <a:spcPts val="2970"/>
              </a:lnSpc>
            </a:pPr>
            <a:r>
              <a:rPr lang="en-US" sz="2700" i="true">
                <a:solidFill>
                  <a:srgbClr val="000000"/>
                </a:solidFill>
                <a:latin typeface="Times New Roman Italics"/>
                <a:ea typeface="Times New Roman Italics"/>
                <a:cs typeface="Times New Roman Italics"/>
                <a:sym typeface="Times New Roman Italics"/>
              </a:rPr>
              <a:t>Engineering Research and Technology</a:t>
            </a:r>
            <a:r>
              <a:rPr lang="en-US" sz="2700">
                <a:solidFill>
                  <a:srgbClr val="000000"/>
                </a:solidFill>
                <a:latin typeface="Times New Roman"/>
                <a:ea typeface="Times New Roman"/>
                <a:cs typeface="Times New Roman"/>
                <a:sym typeface="Times New Roman"/>
              </a:rPr>
              <a:t>, vol. 8, no. 6, pp. 623–626, 2019. </a:t>
            </a:r>
          </a:p>
          <a:p>
            <a:pPr algn="l">
              <a:lnSpc>
                <a:spcPts val="6750"/>
              </a:lnSpc>
            </a:pPr>
            <a:r>
              <a:rPr lang="en-US" sz="2700">
                <a:solidFill>
                  <a:srgbClr val="000000"/>
                </a:solidFill>
                <a:latin typeface="Times New Roman"/>
                <a:ea typeface="Times New Roman"/>
                <a:cs typeface="Times New Roman"/>
                <a:sym typeface="Times New Roman"/>
              </a:rPr>
              <a:t>[9] S. R. Ramesh and D. Vydeki, “Recognition and classification of paddy leaf diseases using deep neural </a:t>
            </a:r>
          </a:p>
          <a:p>
            <a:pPr algn="l">
              <a:lnSpc>
                <a:spcPts val="2970"/>
              </a:lnSpc>
            </a:pPr>
            <a:r>
              <a:rPr lang="en-US" sz="2700">
                <a:solidFill>
                  <a:srgbClr val="000000"/>
                </a:solidFill>
                <a:latin typeface="Times New Roman"/>
                <a:ea typeface="Times New Roman"/>
                <a:cs typeface="Times New Roman"/>
                <a:sym typeface="Times New Roman"/>
              </a:rPr>
              <a:t>networks,” </a:t>
            </a:r>
            <a:r>
              <a:rPr lang="en-US" sz="2700" i="true">
                <a:solidFill>
                  <a:srgbClr val="000000"/>
                </a:solidFill>
                <a:latin typeface="Times New Roman Italics"/>
                <a:ea typeface="Times New Roman Italics"/>
                <a:cs typeface="Times New Roman Italics"/>
                <a:sym typeface="Times New Roman Italics"/>
              </a:rPr>
              <a:t>Journal of Intelligent and Fuzzy Systems</a:t>
            </a:r>
            <a:r>
              <a:rPr lang="en-US" sz="2700">
                <a:solidFill>
                  <a:srgbClr val="000000"/>
                </a:solidFill>
                <a:latin typeface="Times New Roman"/>
                <a:ea typeface="Times New Roman"/>
                <a:cs typeface="Times New Roman"/>
                <a:sym typeface="Times New Roman"/>
              </a:rPr>
              <a:t>, vol. 36, no. 6, pp. 5985–5995, 2019. </a:t>
            </a:r>
          </a:p>
          <a:p>
            <a:pPr algn="l">
              <a:lnSpc>
                <a:spcPts val="6750"/>
              </a:lnSpc>
            </a:pPr>
            <a:r>
              <a:rPr lang="en-US" sz="2700">
                <a:solidFill>
                  <a:srgbClr val="000000"/>
                </a:solidFill>
                <a:latin typeface="Times New Roman"/>
                <a:ea typeface="Times New Roman"/>
                <a:cs typeface="Times New Roman"/>
                <a:sym typeface="Times New Roman"/>
              </a:rPr>
              <a:t>[10] M. Barbedo, “Impact of dataset size and variety on the effectiveness of deep learning and transfer learning for </a:t>
            </a:r>
          </a:p>
          <a:p>
            <a:pPr algn="l">
              <a:lnSpc>
                <a:spcPts val="2970"/>
              </a:lnSpc>
            </a:pPr>
            <a:r>
              <a:rPr lang="en-US" sz="2700">
                <a:solidFill>
                  <a:srgbClr val="000000"/>
                </a:solidFill>
                <a:latin typeface="Times New Roman"/>
                <a:ea typeface="Times New Roman"/>
                <a:cs typeface="Times New Roman"/>
                <a:sym typeface="Times New Roman"/>
              </a:rPr>
              <a:t>plant disease classification,” </a:t>
            </a:r>
            <a:r>
              <a:rPr lang="en-US" sz="2700" i="true">
                <a:solidFill>
                  <a:srgbClr val="000000"/>
                </a:solidFill>
                <a:latin typeface="Times New Roman Italics"/>
                <a:ea typeface="Times New Roman Italics"/>
                <a:cs typeface="Times New Roman Italics"/>
                <a:sym typeface="Times New Roman Italics"/>
              </a:rPr>
              <a:t>Computers and Electronics in Agriculture</a:t>
            </a:r>
            <a:r>
              <a:rPr lang="en-US" sz="2700">
                <a:solidFill>
                  <a:srgbClr val="000000"/>
                </a:solidFill>
                <a:latin typeface="Times New Roman"/>
                <a:ea typeface="Times New Roman"/>
                <a:cs typeface="Times New Roman"/>
                <a:sym typeface="Times New Roman"/>
              </a:rPr>
              <a:t>, vol. 153, pp. 46–53, 2018. </a:t>
            </a:r>
          </a:p>
        </p:txBody>
      </p:sp>
      <p:sp>
        <p:nvSpPr>
          <p:cNvPr name="TextBox 3" id="3"/>
          <p:cNvSpPr txBox="true"/>
          <p:nvPr/>
        </p:nvSpPr>
        <p:spPr>
          <a:xfrm rot="0">
            <a:off x="7399782" y="686619"/>
            <a:ext cx="3647527" cy="722628"/>
          </a:xfrm>
          <a:prstGeom prst="rect">
            <a:avLst/>
          </a:prstGeom>
        </p:spPr>
        <p:txBody>
          <a:bodyPr anchor="t" rtlCol="false" tIns="0" lIns="0" bIns="0" rIns="0">
            <a:spAutoFit/>
          </a:bodyPr>
          <a:lstStyle/>
          <a:p>
            <a:pPr algn="l">
              <a:lnSpc>
                <a:spcPts val="5876"/>
              </a:lnSpc>
            </a:pPr>
            <a:r>
              <a:rPr lang="en-US" b="true" sz="4197">
                <a:solidFill>
                  <a:srgbClr val="000000"/>
                </a:solidFill>
                <a:latin typeface="Times New Roman Bold"/>
                <a:ea typeface="Times New Roman Bold"/>
                <a:cs typeface="Times New Roman Bold"/>
                <a:sym typeface="Times New Roman Bold"/>
              </a:rPr>
              <a:t>REFERENCES</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403704" y="9585293"/>
            <a:ext cx="313453" cy="454419"/>
          </a:xfrm>
          <a:prstGeom prst="rect">
            <a:avLst/>
          </a:prstGeom>
        </p:spPr>
        <p:txBody>
          <a:bodyPr anchor="t" rtlCol="false" tIns="0" lIns="0" bIns="0" rIns="0">
            <a:spAutoFit/>
          </a:bodyPr>
          <a:lstStyle/>
          <a:p>
            <a:pPr algn="l">
              <a:lnSpc>
                <a:spcPts val="3351"/>
              </a:lnSpc>
            </a:pPr>
            <a:r>
              <a:rPr lang="en-US" sz="2394">
                <a:solidFill>
                  <a:srgbClr val="FFFFFF"/>
                </a:solidFill>
                <a:latin typeface="Calibri (MS)"/>
                <a:ea typeface="Calibri (MS)"/>
                <a:cs typeface="Calibri (MS)"/>
                <a:sym typeface="Calibri (MS)"/>
              </a:rPr>
              <a:t>23</a:t>
            </a:r>
          </a:p>
        </p:txBody>
      </p:sp>
      <p:sp>
        <p:nvSpPr>
          <p:cNvPr name="TextBox 3" id="3"/>
          <p:cNvSpPr txBox="true"/>
          <p:nvPr/>
        </p:nvSpPr>
        <p:spPr>
          <a:xfrm rot="0">
            <a:off x="4800986" y="4010396"/>
            <a:ext cx="7116918" cy="1564757"/>
          </a:xfrm>
          <a:prstGeom prst="rect">
            <a:avLst/>
          </a:prstGeom>
        </p:spPr>
        <p:txBody>
          <a:bodyPr anchor="t" rtlCol="false" tIns="0" lIns="0" bIns="0" rIns="0">
            <a:spAutoFit/>
          </a:bodyPr>
          <a:lstStyle/>
          <a:p>
            <a:pPr algn="l">
              <a:lnSpc>
                <a:spcPts val="12605"/>
              </a:lnSpc>
            </a:pPr>
            <a:r>
              <a:rPr lang="en-US" b="true" sz="9003">
                <a:solidFill>
                  <a:srgbClr val="000000"/>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DAHGmwolSe4</dc:identifier>
  <dcterms:modified xsi:type="dcterms:W3CDTF">2011-08-01T06:04:30Z</dcterms:modified>
  <cp:revision>1</cp:revision>
  <dc:title>ADVANTAGE</dc:title>
</cp:coreProperties>
</file>